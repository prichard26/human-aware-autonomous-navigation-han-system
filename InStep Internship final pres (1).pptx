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8.xml" ContentType="application/inkml+xml"/>
  <Override PartName="/ppt/notesSlides/notesSlide14.xml" ContentType="application/vnd.openxmlformats-officedocument.presentationml.notesSlide+xml"/>
  <Override PartName="/ppt/ink/ink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38" r:id="rId2"/>
    <p:sldId id="355" r:id="rId3"/>
    <p:sldId id="349" r:id="rId4"/>
    <p:sldId id="375" r:id="rId5"/>
    <p:sldId id="363" r:id="rId6"/>
    <p:sldId id="380" r:id="rId7"/>
    <p:sldId id="362" r:id="rId8"/>
    <p:sldId id="369" r:id="rId9"/>
    <p:sldId id="379" r:id="rId10"/>
    <p:sldId id="365" r:id="rId11"/>
    <p:sldId id="364" r:id="rId12"/>
    <p:sldId id="367" r:id="rId13"/>
    <p:sldId id="371" r:id="rId14"/>
    <p:sldId id="381" r:id="rId15"/>
    <p:sldId id="366" r:id="rId16"/>
    <p:sldId id="378" r:id="rId17"/>
    <p:sldId id="370" r:id="rId18"/>
    <p:sldId id="383" r:id="rId19"/>
    <p:sldId id="382" r:id="rId20"/>
    <p:sldId id="274" r:id="rId21"/>
    <p:sldId id="376" r:id="rId22"/>
    <p:sldId id="372" r:id="rId23"/>
    <p:sldId id="373" r:id="rId24"/>
    <p:sldId id="353" r:id="rId25"/>
    <p:sldId id="368" r:id="rId26"/>
    <p:sldId id="35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603017-5B23-BB37-70A8-000E4186D18B}" name="Amanda Lyn Xu" initials="AX" userId="S::amandalyn.trn@ad.infosys.com::6f12bdaf-3035-4659-a5d0-45d42095def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C91C1-DEE6-991F-FF23-1588D591DFF4}" v="960" dt="2024-08-27T10:13:41.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107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1T09:53:24.957"/>
    </inkml:context>
    <inkml:brush xml:id="br0">
      <inkml:brushProperty name="width" value="0.2" units="cm"/>
      <inkml:brushProperty name="height" value="0.4" units="cm"/>
      <inkml:brushProperty name="color" value="#EF0C4D"/>
      <inkml:brushProperty name="tip" value="rectangle"/>
      <inkml:brushProperty name="rasterOp" value="maskPen"/>
      <inkml:brushProperty name="ignorePressure" value="1"/>
    </inkml:brush>
  </inkml:definitions>
  <inkml:trace contextRef="#ctx0" brushRef="#br0">896 828,'0'2,"-1"0,1 0,0 0,0 0,-1 0,1 0,-1 0,0 0,0-1,0 1,1 0,-2-1,1 1,0 0,0-1,-3 3,1-1,-1 0,1 0,-1-1,0 0,0 1,0-2,-5 3,-3 0,0 0,-1-2,0 1,-16 0,-58-2,60-2,0 2,-46 5,35-1,1-2,-72-4,35-1,17 1,-62 3,86 4,28-4,0-1,0 0,-1 0,1 0,0-1,0 1,-1-1,1 0,0-1,0 1,-8-3,12 3,0 0,0 0,1-1,-1 1,0 0,0-1,1 1,-1-1,0 1,1-1,-1 1,0-1,1 1,-1-1,1 1,-1-1,1 0,-1 1,1-1,0 0,-1 0,1 1,0-1,-1 0,1 0,0-1,0 1,0 0,1 0,-1 0,0-1,1 1,-1 0,1 0,0 0,-1 0,1 0,0 0,-1 0,1 0,0 0,1-1,3-2,0 0,1 0,-1 1,1-1,8-3,23-5,0 2,0 1,48-4,-23 3,313-40,-352 47,-1-1,34-11,25-5,150 3,-25 3,-120 7,101 4,-109 4,144-17,-127 2,-44 8,1-2,-1-3,93-31,-17 2,-91 29,-279 93,186-68,0-2,-83 6,80-13,-1 2,-83 21,119-23,-1-2,1-1,0-1,-1-1,-42-6,55 5,6 0,0 1,0-1,0 0,0-1,-10-3,15 4,1 1,-1-1,0 0,1 0,-1 0,1-1,0 1,-1 0,1 0,0-1,0 1,-1-1,1 1,1-1,-1 0,0 1,0-1,0 0,1 1,-1-1,1 0,0 0,-1 0,1 0,0-3,0 1,0 1,1-1,-1 0,1 0,0 1,0-1,0 0,1 1,-1-1,1 1,0 0,0-1,0 1,0 0,0 0,5-4,4-4,1 1,23-17,-3 4,-21 15,1-1,0 2,0 0,1 0,0 1,1 0,-1 2,27-7,3 3,69-2,-99 9,102-16,-80 10,57-3,-68 8,0-2,36-8,-38 6,0 2,0 0,27 0,-10 1,70-12,-68 8,62-3,-62 7,1-3,-1 0,66-21,43-8,-109 29,-18 3,0-1,0 0,0-2,-1 0,31-14,-22 7,0 2,34-9,-31 11,59-25,-44 11,2 2,88-24,-111 39,1 1,33-2,-52 6,1 1,0 0,-1 1,1 0,0 1,-1 0,0 0,1 1,10 5,-18-6,0 0,0 0,0 0,-1 0,1 0,-1 1,0-1,0 1,0-1,0 1,2 4,17 38,-8-17,24 53,10 19,-35-77,-2 0,-1 0,10 40,-11-34,23 53,-23-67,-1 0,-1 1,0 0,6 32,10 67,17 121,-28-135,-1-33,17 145,-16-84,3 63,-13-141,0-4,-2 0,-2 0,-10 52,5-72,-1 0,-1-1,-15 28,-3 9,7-18,-51 77,-23 9,21-30,15-31,6-8,40-49,-1 0,0-1,0-1,-1 0,-23 12,36-22,1 0,-1 0,0 0,0-1,0 1,0-1,0 1,0-1,0 0,0 1,0-1,0 0,0-1,0 1,0 0,0 0,0-1,0 1,-3-2,-1-1,0 0,0 0,1-1,-9-7,9 7,0 0,-1 0,0 0,-11-4,-3 1,0 2,-1 0,0 2,-38-3,49 4,0 0,0 0,1-1,-1-1,1 0,0 0,0-1,-12-7,-5-3,40 21,0 0,0-1,18 3,-23-5,-1-2,1 1,-1-1,1-1,0 1,-1-1,1-1,0 0,10-2,-18 3,1-1,-1 1,0 0,1-1,-1 1,0-1,0 1,0-1,0 0,0 0,1 1,-1-1,0 0,-1 0,1 0,0 0,0 0,0 0,0 0,-1-1,1 1,-1 0,1 0,-1 0,1-1,-1 1,0 0,1-1,-1 1,0 0,0-1,0 1,0 0,0-1,-1 1,1 0,0-1,0 1,-2-2,1-1,-1 0,0 1,0-1,0 1,0-1,0 1,-1 0,1 0,-1 0,0 0,0 1,-3-3,-86-49,78 47,0 1,0 0,-1 1,-27-6,-3 1,32 6,1 1,-1 1,-22-2,-58-8,84 10,1 0,0 0,0 0,0-1,0-1,0 1,1-1,-1-1,-10-7,1-1,0-1,-23-25,29 25,0-1,1 0,-10-21,12 22,0-1,-1 1,0 1,-14-15,19 24,0 1,0-1,0 1,-1 0,1 0,-1 0,1 1,-1 0,0 0,0 0,0 0,0 1,-1 0,1 0,0 0,0 0,-7 1,-8 0,13-1,0 1,0 0,0 0,0 1,-7 1,12-1,1-1,-1 0,1 1,0 0,-1-1,1 1,0 0,0-1,-1 1,1 0,0 0,0 0,0 0,0 0,0 1,0-1,0 0,1 0,-1 1,0-1,1 0,-1 1,1-1,-1 0,1 1,0-1,0 1,-1-1,1 3,0 4,0 0,0 0,0 0,3 10,-3-16,0 0,1 0,-1-1,1 1,-1 0,1-1,0 1,0 0,0-1,0 1,0-1,0 0,0 1,0-1,1 0,-1 1,0-1,1 0,-1 0,1 0,-1 0,1-1,0 1,-1 0,4 0,-5-1,1 0,0 0,-1 0,1 0,0 0,-1 0,1 0,-1 0,1 0,0-1,-1 1,1 0,-1 0,1-1,0 1,-1 0,1-1,-1 1,1-1,-1 1,0-1,1 1,-1-1,1 1,-1-1,0 1,1-1,-1 1,0-1,0 0,1 1,-1-1,0 1,0-1,0 0,0 1,0-1,0 0,0 1,0-1,0 0,0 1,0-1,0 1,-1-2,-4-29,0 22,-1-1,1 1,-2 0,1 1,-1 0,0 0,-1 0,0 1,0 0,-1 1,0 0,0 0,0 0,-1 1,-14-5,16 8,0 0,-1 1,1 0,-1 0,1 0,-16 2,13 0,-1-1,-19-2,27 1,0 0,0 0,1 0,-1-1,0 1,1-1,-1 0,1 0,-1 0,1 0,-6-5,-5-6,-2 2,0 0,0 0,-1 2,0 0,0 1,-1 1,-23-7,22 6,0-1,1-1,-30-21,32 20,-55-28,57 33,0 0,1-2,0 0,0 0,1-1,0-1,-13-12,18 14,-1 1,0-1,0 2,0-1,-1 1,0 1,-16-8,-1 2,-41-11,-5-1,-78-43,138 60,-30-15,0-3,-55-39,63 37,-2 2,-70-34,77 42,2-1,-40-32,-11-8,74 55,-110-76,94 62,-1 2,0 0,-1 1,-1 1,1 1,-47-15,47 20,0-2,1-1,0 0,1-1,-28-19,3 6,35 19,0 0,-18-13,28 17,0 0,-1 0,1 0,0 0,0 0,0 0,0-1,0 1,0 0,0 0,-1 0,1 0,0 0,0-1,0 1,0 0,0 0,0 0,0 0,0-1,0 1,0 0,0 0,0 0,0 0,0-1,0 1,0 0,0 0,0 0,0-1,0 1,0 0,0 0,0 0,1 0,-1 0,0-1,0 1,0 0,0 0,0 0,0 0,0 0,1 0,-1 0,0-1,0 1,0 0,0 0,1 0,-1 0,0 0,0 0,0 0,0 0,1 0,-1 0,0 0,0 0,0 0,0 0,1 0,-1 0,0 0,0 0,0 0,16-2,-15 2,45-3,-1 2,57 6,91 19,-131-15,257 47,-302-53,1-1,0-1,21-2,28 3,-39 0,1 2,-1 1,0 1,-1 2,1 0,40 20,-25-7,121 66,-160-84,0 0,0 0,-1 1,1 0,-1 0,1 0,-1 0,0 0,-1 0,1 1,2 6,2 7,9 32,-5-11,5 5,1-1,3 0,1-1,2-2,36 49,-58-87,24 31,41 43,-57-67,0-1,1 1,0-2,1 1,-1-1,1-1,1 0,-1-1,15 6,365 90,-337-88,70 26,-96-29,-8-4,0 2,-1 0,0 2,23 13,136 85,-97-62,-74-41,0 1,1 0,-2 0,1 0,8 11,-12-12,1 0,0 0,0-1,1 0,-1 0,1 0,0 0,0-1,0 1,1-1,-1-1,1 1,6 2,119 17,20 6,-148-28,-1 1,1 0,-1-1,1 1,-1 0,0 0,1 1,-1-1,0 0,0 1,0-1,0 1,0 0,0 0,0-1,1 4,-1-1,1 0,-2 1,1 0,0-1,-1 1,1 7,2 7,-3-16,-1-1,1 1,0-1,0 0,0 1,0-1,0 0,0 1,1-1,-1 0,1 0,-1 0,1 0,3 2,-4-3,1-1,-1 1,1-1,-1 1,1-1,-1 1,1-1,0 0,-1 0,1 1,-1-1,1 0,0-1,-1 1,1 0,0 0,-1-1,1 1,-1-1,1 1,-1-1,1 0,2-1,13-9,-1-1,0-1,0 0,-2-1,0-1,17-22,25-23,3 6,-39 38,-1-1,-1-1,0-1,-1-1,22-33,-36 49,-1-1,0 1,0-1,0 0,0 0,-1 0,0 0,0 0,0 0,-1-10,0 13,0-1,0 1,-1 0,1 0,-1-1,1 1,-1 0,0 0,0 0,0 0,0 0,0 0,-1 0,1 1,-1-1,1 0,-1 1,1-1,-1 1,0-1,0 1,0 0,0-1,0 1,0 0,-3-1,-16-3,0 1,0 0,-1 2,1 0,-1 1,-27 3,1-1,16-1,-42 0,-113-13,163 9,1 0,-1-2,1-1,1 0,-1-2,2 0,-1-2,1 0,-19-15,-140-95,104 71,47 28,-2 3,0 0,-2 2,-47-18,18 17,-1 4,-98-10,-13-3,32 1,57 13,0-5,-118-40,143 36,2-2,1-3,-80-50,130 71,0 0,1 0,-1 0,1-1,1 0,-9-12,12 16,0 0,0 0,0 0,1 0,-1-1,1 1,0 0,0-1,0 1,0-1,1 0,-1 1,1-1,0 1,0-1,0 0,0 1,2-7,0 7,0 0,0 0,1 0,-1 0,0 0,1 0,0 1,0 0,4-4,17-16,-22 19,0 0,0-1,0 1,0 0,-1-1,1 1,-1-1,0 1,0-1,0 1,0-1,-1 0,0 0,0 1,0-1,0 0,0 0,-1 1,-1-6,2 9,0-1,0 1,0-1,-1 1,1-1,0 1,0 0,-1-1,1 1,0-1,-1 1,1 0,-1 0,1-1,0 1,-1 0,1 0,-1-1,1 1,-1 0,1 0,-1 0,1 0,-1 0,1-1,-1 1,1 0,-2 0,-16 7,-16 19,31-24,-26 23,14-14,0 1,1 0,1 2,-14 17,23-23,1-1,0 2,1-1,0 0,0 0,1 1,0-1,0 1,1-1,0 1,2 13,-1-20,0 0,0 0,0 0,0 1,0-1,0 0,1-1,-1 1,1 0,-1 0,1 0,0-1,0 1,0-1,0 0,0 1,0-1,0 0,0 0,0 0,1-1,-1 1,0 0,4 0,5 1,1 0,-1-1,21 0,-8-2,1-1,-1-2,42-11,71-29,-69 20,7 0,-11 4,0-2,64-33,-125 53,0 1,0-1,0 0,-1 0,1 0,0 0,-1 0,0 0,1-1,-1 1,0-1,0 0,0 0,-1 0,1 1,-1-2,0 1,2-5,-3 5,1 0,-1 0,0 1,-1-1,1 0,0 0,-1 0,1 1,-1-1,0 0,0 1,0-1,-1 0,1 1,0 0,-1-1,0 1,1 0,-1 0,0 0,0 0,-3-3,-9-6,0 1,0 0,-1 1,-19-9,-69-25,33 15,55 21,12 5,0 0,0 1,0-1,0 1,0 0,-1 0,1 0,-5-1,7 2,1 0,-1 0,1 0,-1 1,1-1,-1 0,1 0,-1 0,1 0,-1 1,1-1,0 0,-1 0,1 1,-1-1,1 0,0 1,-1-1,1 0,0 1,-1-1,1 1,0-1,-1 1,1 1,-1 0,1 0,-1 0,1 0,0 0,-1 0,1 0,0 0,1 4,0-1,0 0,1 1,0-1,0 0,0 1,0-1,1 0,0-1,0 1,0 0,1-1,-1 0,7 6,7 6,34 24,-47-37,38 26,2-2,0-1,2-3,1-2,66 22,302 108,70 24,-333-135,175 21,-289-55,48-1,-83-4,0 0,0 0,0 0,0 0,-1 1,1-1,0 1,0-1,-1 1,0 0,1 0,3 5,7 4,16 12,-8-7,42 27,-57-39,1-1,-1 0,1 0,0-1,0 0,0 0,0-1,0 1,0-1,0-1,14 0,-18-1,0 1,0-1,0 0,0-1,0 1,-1 0,1-1,0 0,-1 1,1-1,-1 0,0 0,1-1,-1 1,0 0,0-1,0 1,-1-1,1 0,-1 0,1 1,-1-1,1-4,4-9,-2 0,1-1,1-16,-4 23,16-56,-13 52,-1 0,0 0,3-26,-7 35,0-1,0 1,0-1,-1 0,0 1,0-1,-1 1,1 0,-1-1,0 1,0 0,-1 0,-5-8,3 7,0 0,0 0,0 0,-1 0,0 1,0 0,-1 1,1-1,-1 1,0 1,0-1,-1 1,1 0,-11-2,-11-2,1 2,-48-3,27 4,-38-9,-143-39,141 31,-162-15,232 34,-398-80,116 16,91 12,80 17,82 26,20 5,-35-12,7-6,42 17,0 1,-1 0,1 1,-1 1,-22-4,-12 4,0 3,-1 1,-68 11,117-11,4 1,16 0,28-3,104-26,1 0,43 14,216 13,-166 4,-160-3,246 4,-240 1,147 29,-192-27,1-2,89-2,-24-2,-72 3,0 1,48 14,-17-3,-67-15,-1 0,0-1,-1 1,1 0,0 1,0-1,0 0,-1 1,1-1,0 1,-1 0,0 0,1 0,-1 0,0 1,0-1,0 0,2 4,0 3,0-1,-1 1,0-1,3 17,-5-20,0-3,-1-1,1 1,-1 0,0-1,1 1,-1-1,0 1,0 0,0-1,0 1,0 0,-1-1,1 1,0 0,-1-1,1 1,-1-1,0 1,1-1,-1 1,0-1,0 0,0 1,0-1,0 0,-3 3,0-2,0 1,-1-1,0 0,1-1,-1 1,0-1,-9 2,-39 8,-1-2,-1-2,1-3,-72-4,114-1,0-1,0 0,0-1,0 0,0-1,1-1,-1 0,-12-7,17 8,0-1,0 0,1 0,0 0,0-1,0 0,0 0,1 0,0-1,0 1,1-1,0-1,-4-7,8 13,-1 0,1 1,0-1,-1 0,1 0,0 1,0-1,0 0,0 0,0 1,1-1,-1 0,0 0,1 1,-1-1,1 0,0 1,-1-1,1 1,0-1,0 1,0-1,0 1,0 0,1-1,1-1,4-3,0 1,0-1,16-7,-16 9,80-46,98-63,-182 111,0 0,0 0,0 0,-1-1,1 1,-1-1,0 1,1-1,-1 0,-1 0,1 0,0 0,-1 0,2-5,-2 1,0 0,0 0,-1 0,1 0,-3-11,2 5,-1-7,-1-1,0 1,-2 0,0-1,-14-37,5 26,-34-59,40 79,0 1,-1 0,0 1,-1 0,0 0,-1 0,0 2,-13-11,13 14,0 1,0-1,0 1,0 1,-1 0,1 0,-1 1,0 1,-15-1,-15 1,-45 6,84-5,-365 57,276-40,73-13,-1 0,1 1,1 1,-33 15,38-14,0 0,1 0,0 1,1 1,-1 0,2 0,-13 16,11-12,-5 8,0-2,-1 0,0-1,-2 0,-39 27,58-45,0 0,0 0,0 0,0 0,0 0,0 0,0 0,0 1,0-1,0 0,0 0,0 0,0 0,0 0,1 0,-1 0,0 0,0 0,0 0,0 0,0 0,0 0,0 0,0 0,0 0,0 0,0 0,0 0,0 0,0 0,0 1,0-1,0 0,0 0,0 0,0 0,0 0,0 0,0 0,0 0,0 0,0 0,0 0,0 0,0 0,0 0,14-1,18-5,-32 6,205-28,-96 15,-51 5,20-3,111-2,-116 13,82 2,-154-2,0 0,1 0,-1 0,0 0,1 0,-1 0,0 0,0 0,1 1,-1-1,0 0,0 1,1-1,-1 1,0 0,0-1,0 1,0 0,0 0,0 0,0 0,0 0,0 0,0 0,0 0,-1 0,2 2,-2-2,-1 1,1 0,0-1,-1 0,1 1,-1-1,0 1,1-1,-1 0,0 1,0-1,0 0,0 0,0 0,0 0,0 1,0-2,-1 1,1 0,0 0,0 0,-1 0,1-1,-2 1,-15 7,-1 0,1-2,-1 0,0-1,-35 4,12-1,16-3,-300 55,218-46,-117 2,215-16,1 0,-1-1,1 0,-13-3,20 4,0-1,0 1,-1-1,1 0,0 0,0 0,0 0,0 0,0 0,0 0,0-1,1 1,-1-1,0 1,1-1,-1 0,1 0,0 1,-1-1,1 0,0 0,-1-4,1 4,1 0,0 1,1-1,-1 1,0-1,0 1,1-1,-1 1,1-1,-1 1,1 0,-1-1,1 1,0 0,0-1,0 1,0 0,0 0,0 0,0 0,0-1,3 0,30-21,-32 22,31-15,0 1,2 1,-1 2,2 2,-1 1,65-8,222 1,-296 16,125 2,70-2,-215-1,-1 0,1 0,-1-1,0 0,1 0,-1 0,0-1,0 1,0-1,-1 0,1-1,5-5,-5 5,0 0,1 0,-1 0,1 1,-1 0,1 0,0 0,12-3,-11 4,1 0,-1 0,0 0,0-1,0-1,0 1,10-8,0-2,21-21,6-5,-38 36,0-1,0 1,0 0,1 0,-1 1,1-1,0 2,0-1,-1 1,1 0,0 0,0 1,9 0,-15 0,1 1,0 0,0 0,0-1,-1 1,1 0,0 0,-1 1,1-1,-1 0,1 0,-1 1,0-1,0 1,0-1,1 1,-1 0,0-1,-1 1,1 0,1 2,14 45,-13-38,3 8,1-1,1 0,0 0,1 0,18 24,-20-30,0 0,8 22,2 4,-6-15,10 31,0 0,-14-36,-1 1,6 32,-7-28,9 28,-10-36,0-1,-1 1,-1 0,1 18,-2-13,8 33,22 102,0-5,-24-116,0-3,-1 0,-1 0,0 43,-5-50,1-7,-1 0,-1 0,-6 30,-3 0,-3 57,7-48,-15 61,17-102,0 0,-1-1,0 0,-1 0,-1 0,0-1,-1 0,0 0,-1-1,-12 13,1-4,0 0,0-2,-38 26,49-38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5:04.775"/>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84 0,'-58'0,"35"0,21 0,8 0,2966 0,-2961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5:15.086"/>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0,'3911'0,"-3918"0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5:21.26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0 0,'2971'0,"-2955"0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5:42.930"/>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0,'0'3189,"0"-3177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5:48.202"/>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0,'0'3062,"0"-3047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8-23T07:06:00.138"/>
    </inkml:context>
    <inkml:brush xml:id="br0">
      <inkml:brushProperty name="width" value="0.035" units="cm"/>
      <inkml:brushProperty name="height" value="0.035" units="cm"/>
      <inkml:brushProperty name="color" value="#E71224"/>
      <inkml:brushProperty name="ignorePressure" value="1"/>
    </inkml:brush>
  </inkml:definitions>
  <inkml:trace contextRef="#ctx0" brushRef="#br0">1 0,'0'2386,"0"-2375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8T05:49:30.688"/>
    </inkml:context>
    <inkml:brush xml:id="br0">
      <inkml:brushProperty name="width" value="0.1" units="cm"/>
      <inkml:brushProperty name="height" value="0.1" units="cm"/>
      <inkml:brushProperty name="color" value="#E71224"/>
    </inkml:brush>
  </inkml:definitions>
  <inkml:trace contextRef="#ctx0" brushRef="#br0">24448 8784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8-08T05:49:30.688"/>
    </inkml:context>
    <inkml:brush xml:id="br0">
      <inkml:brushProperty name="width" value="0.1" units="cm"/>
      <inkml:brushProperty name="height" value="0.1" units="cm"/>
      <inkml:brushProperty name="color" value="#E71224"/>
    </inkml:brush>
  </inkml:definitions>
  <inkml:trace contextRef="#ctx0" brushRef="#br0">24448 8784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F4701-1C14-4D1D-89C4-0B9469808CFF}" type="datetimeFigureOut">
              <a:rPr lang="en-US" smtClean="0"/>
              <a:t>8/28/2024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2F2BF-7229-47D9-81B2-1F885F7979BE}" type="slidenum">
              <a:rPr lang="en-US" smtClean="0"/>
              <a:t>‹#›</a:t>
            </a:fld>
            <a:endParaRPr lang="en-US"/>
          </a:p>
        </p:txBody>
      </p:sp>
    </p:spTree>
    <p:extLst>
      <p:ext uri="{BB962C8B-B14F-4D97-AF65-F5344CB8AC3E}">
        <p14:creationId xmlns:p14="http://schemas.microsoft.com/office/powerpoint/2010/main" val="105972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381000" y="685800"/>
            <a:ext cx="6096000" cy="3429000"/>
          </a:xfrm>
          <a:prstGeom prst="rect">
            <a:avLst/>
          </a:prstGeom>
        </p:spPr>
        <p:txBody>
          <a:bodyPr/>
          <a:lstStyle/>
          <a:p>
            <a:endParaRPr/>
          </a:p>
        </p:txBody>
      </p:sp>
      <p:sp>
        <p:nvSpPr>
          <p:cNvPr id="379" name="Shape 379"/>
          <p:cNvSpPr>
            <a:spLocks noGrp="1"/>
          </p:cNvSpPr>
          <p:nvPr>
            <p:ph type="body" sz="quarter" idx="1"/>
          </p:nvPr>
        </p:nvSpPr>
        <p:spPr>
          <a:prstGeom prst="rect">
            <a:avLst/>
          </a:prstGeom>
        </p:spPr>
        <p:txBody>
          <a:bodyPr/>
          <a:lstStyle/>
          <a:p>
            <a:endParaRPr lang="en-US" sz="1200">
              <a:effectLst/>
              <a:latin typeface="+mn-lt"/>
              <a:ea typeface="+mn-ea"/>
              <a:cs typeface="+mn-cs"/>
              <a:sym typeface="Calibri"/>
            </a:endParaRPr>
          </a:p>
        </p:txBody>
      </p:sp>
    </p:spTree>
    <p:extLst>
      <p:ext uri="{BB962C8B-B14F-4D97-AF65-F5344CB8AC3E}">
        <p14:creationId xmlns:p14="http://schemas.microsoft.com/office/powerpoint/2010/main" val="4274163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3</a:t>
            </a:fld>
            <a:endParaRPr lang="en-US"/>
          </a:p>
        </p:txBody>
      </p:sp>
    </p:spTree>
    <p:extLst>
      <p:ext uri="{BB962C8B-B14F-4D97-AF65-F5344CB8AC3E}">
        <p14:creationId xmlns:p14="http://schemas.microsoft.com/office/powerpoint/2010/main" val="2186979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Paul</a:t>
            </a:r>
          </a:p>
        </p:txBody>
      </p:sp>
      <p:sp>
        <p:nvSpPr>
          <p:cNvPr id="4" name="Slide Number Placeholder 3"/>
          <p:cNvSpPr>
            <a:spLocks noGrp="1"/>
          </p:cNvSpPr>
          <p:nvPr>
            <p:ph type="sldNum" sz="quarter" idx="5"/>
          </p:nvPr>
        </p:nvSpPr>
        <p:spPr/>
        <p:txBody>
          <a:bodyPr/>
          <a:lstStyle/>
          <a:p>
            <a:fld id="{F922F2BF-7229-47D9-81B2-1F885F7979BE}" type="slidenum">
              <a:rPr lang="en-US" smtClean="0"/>
              <a:t>4</a:t>
            </a:fld>
            <a:endParaRPr lang="en-US"/>
          </a:p>
        </p:txBody>
      </p:sp>
    </p:spTree>
    <p:extLst>
      <p:ext uri="{BB962C8B-B14F-4D97-AF65-F5344CB8AC3E}">
        <p14:creationId xmlns:p14="http://schemas.microsoft.com/office/powerpoint/2010/main" val="3808391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maan</a:t>
            </a:r>
          </a:p>
        </p:txBody>
      </p:sp>
      <p:sp>
        <p:nvSpPr>
          <p:cNvPr id="4" name="Slide Number Placeholder 3"/>
          <p:cNvSpPr>
            <a:spLocks noGrp="1"/>
          </p:cNvSpPr>
          <p:nvPr>
            <p:ph type="sldNum" sz="quarter" idx="5"/>
          </p:nvPr>
        </p:nvSpPr>
        <p:spPr/>
        <p:txBody>
          <a:bodyPr/>
          <a:lstStyle/>
          <a:p>
            <a:fld id="{F922F2BF-7229-47D9-81B2-1F885F7979BE}" type="slidenum">
              <a:rPr lang="en-US" smtClean="0"/>
              <a:t>5</a:t>
            </a:fld>
            <a:endParaRPr lang="en-US"/>
          </a:p>
        </p:txBody>
      </p:sp>
    </p:spTree>
    <p:extLst>
      <p:ext uri="{BB962C8B-B14F-4D97-AF65-F5344CB8AC3E}">
        <p14:creationId xmlns:p14="http://schemas.microsoft.com/office/powerpoint/2010/main" val="366595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maan</a:t>
            </a:r>
          </a:p>
        </p:txBody>
      </p:sp>
      <p:sp>
        <p:nvSpPr>
          <p:cNvPr id="4" name="Slide Number Placeholder 3"/>
          <p:cNvSpPr>
            <a:spLocks noGrp="1"/>
          </p:cNvSpPr>
          <p:nvPr>
            <p:ph type="sldNum" sz="quarter" idx="5"/>
          </p:nvPr>
        </p:nvSpPr>
        <p:spPr/>
        <p:txBody>
          <a:bodyPr/>
          <a:lstStyle/>
          <a:p>
            <a:fld id="{F922F2BF-7229-47D9-81B2-1F885F7979BE}" type="slidenum">
              <a:rPr lang="en-US" smtClean="0"/>
              <a:t>6</a:t>
            </a:fld>
            <a:endParaRPr lang="en-US"/>
          </a:p>
        </p:txBody>
      </p:sp>
    </p:spTree>
    <p:extLst>
      <p:ext uri="{BB962C8B-B14F-4D97-AF65-F5344CB8AC3E}">
        <p14:creationId xmlns:p14="http://schemas.microsoft.com/office/powerpoint/2010/main" val="4207133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paul</a:t>
            </a:r>
            <a:endParaRPr lang="en-US"/>
          </a:p>
        </p:txBody>
      </p:sp>
      <p:sp>
        <p:nvSpPr>
          <p:cNvPr id="4" name="Slide Number Placeholder 3"/>
          <p:cNvSpPr>
            <a:spLocks noGrp="1"/>
          </p:cNvSpPr>
          <p:nvPr>
            <p:ph type="sldNum" sz="quarter" idx="5"/>
          </p:nvPr>
        </p:nvSpPr>
        <p:spPr/>
        <p:txBody>
          <a:bodyPr/>
          <a:lstStyle/>
          <a:p>
            <a:fld id="{F922F2BF-7229-47D9-81B2-1F885F7979BE}" type="slidenum">
              <a:rPr lang="en-US" smtClean="0"/>
              <a:t>7</a:t>
            </a:fld>
            <a:endParaRPr lang="en-US"/>
          </a:p>
        </p:txBody>
      </p:sp>
    </p:spTree>
    <p:extLst>
      <p:ext uri="{BB962C8B-B14F-4D97-AF65-F5344CB8AC3E}">
        <p14:creationId xmlns:p14="http://schemas.microsoft.com/office/powerpoint/2010/main" val="1008152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paul</a:t>
            </a:r>
            <a:endParaRPr lang="en-US"/>
          </a:p>
        </p:txBody>
      </p:sp>
      <p:sp>
        <p:nvSpPr>
          <p:cNvPr id="4" name="Slide Number Placeholder 3"/>
          <p:cNvSpPr>
            <a:spLocks noGrp="1"/>
          </p:cNvSpPr>
          <p:nvPr>
            <p:ph type="sldNum" sz="quarter" idx="5"/>
          </p:nvPr>
        </p:nvSpPr>
        <p:spPr/>
        <p:txBody>
          <a:bodyPr/>
          <a:lstStyle/>
          <a:p>
            <a:fld id="{F922F2BF-7229-47D9-81B2-1F885F7979BE}" type="slidenum">
              <a:rPr lang="en-US" smtClean="0"/>
              <a:t>8</a:t>
            </a:fld>
            <a:endParaRPr lang="en-US"/>
          </a:p>
        </p:txBody>
      </p:sp>
    </p:spTree>
    <p:extLst>
      <p:ext uri="{BB962C8B-B14F-4D97-AF65-F5344CB8AC3E}">
        <p14:creationId xmlns:p14="http://schemas.microsoft.com/office/powerpoint/2010/main" val="2287834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paul</a:t>
            </a:r>
            <a:endParaRPr lang="en-US"/>
          </a:p>
        </p:txBody>
      </p:sp>
      <p:sp>
        <p:nvSpPr>
          <p:cNvPr id="4" name="Slide Number Placeholder 3"/>
          <p:cNvSpPr>
            <a:spLocks noGrp="1"/>
          </p:cNvSpPr>
          <p:nvPr>
            <p:ph type="sldNum" sz="quarter" idx="5"/>
          </p:nvPr>
        </p:nvSpPr>
        <p:spPr/>
        <p:txBody>
          <a:bodyPr/>
          <a:lstStyle/>
          <a:p>
            <a:fld id="{F922F2BF-7229-47D9-81B2-1F885F7979BE}" type="slidenum">
              <a:rPr lang="en-US" smtClean="0"/>
              <a:t>9</a:t>
            </a:fld>
            <a:endParaRPr lang="en-US"/>
          </a:p>
        </p:txBody>
      </p:sp>
    </p:spTree>
    <p:extLst>
      <p:ext uri="{BB962C8B-B14F-4D97-AF65-F5344CB8AC3E}">
        <p14:creationId xmlns:p14="http://schemas.microsoft.com/office/powerpoint/2010/main" val="2863327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10</a:t>
            </a:fld>
            <a:endParaRPr lang="en-US"/>
          </a:p>
        </p:txBody>
      </p:sp>
    </p:spTree>
    <p:extLst>
      <p:ext uri="{BB962C8B-B14F-4D97-AF65-F5344CB8AC3E}">
        <p14:creationId xmlns:p14="http://schemas.microsoft.com/office/powerpoint/2010/main" val="1968510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11</a:t>
            </a:fld>
            <a:endParaRPr lang="en-US"/>
          </a:p>
        </p:txBody>
      </p:sp>
    </p:spTree>
    <p:extLst>
      <p:ext uri="{BB962C8B-B14F-4D97-AF65-F5344CB8AC3E}">
        <p14:creationId xmlns:p14="http://schemas.microsoft.com/office/powerpoint/2010/main" val="1485219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maan</a:t>
            </a:r>
          </a:p>
        </p:txBody>
      </p:sp>
    </p:spTree>
    <p:extLst>
      <p:ext uri="{BB962C8B-B14F-4D97-AF65-F5344CB8AC3E}">
        <p14:creationId xmlns:p14="http://schemas.microsoft.com/office/powerpoint/2010/main" val="3935158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maan</a:t>
            </a:r>
          </a:p>
        </p:txBody>
      </p:sp>
    </p:spTree>
    <p:extLst>
      <p:ext uri="{BB962C8B-B14F-4D97-AF65-F5344CB8AC3E}">
        <p14:creationId xmlns:p14="http://schemas.microsoft.com/office/powerpoint/2010/main" val="2357533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paul</a:t>
            </a:r>
            <a:endParaRPr lang="en-US"/>
          </a:p>
        </p:txBody>
      </p:sp>
      <p:sp>
        <p:nvSpPr>
          <p:cNvPr id="4" name="Slide Number Placeholder 3"/>
          <p:cNvSpPr>
            <a:spLocks noGrp="1"/>
          </p:cNvSpPr>
          <p:nvPr>
            <p:ph type="sldNum" sz="quarter" idx="5"/>
          </p:nvPr>
        </p:nvSpPr>
        <p:spPr/>
        <p:txBody>
          <a:bodyPr/>
          <a:lstStyle/>
          <a:p>
            <a:fld id="{F922F2BF-7229-47D9-81B2-1F885F7979BE}" type="slidenum">
              <a:rPr lang="en-US" smtClean="0"/>
              <a:t>14</a:t>
            </a:fld>
            <a:endParaRPr lang="en-US"/>
          </a:p>
        </p:txBody>
      </p:sp>
    </p:spTree>
    <p:extLst>
      <p:ext uri="{BB962C8B-B14F-4D97-AF65-F5344CB8AC3E}">
        <p14:creationId xmlns:p14="http://schemas.microsoft.com/office/powerpoint/2010/main" val="2198031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paul</a:t>
            </a:r>
          </a:p>
        </p:txBody>
      </p:sp>
      <p:sp>
        <p:nvSpPr>
          <p:cNvPr id="4" name="Slide Number Placeholder 3"/>
          <p:cNvSpPr>
            <a:spLocks noGrp="1"/>
          </p:cNvSpPr>
          <p:nvPr>
            <p:ph type="sldNum" sz="quarter" idx="5"/>
          </p:nvPr>
        </p:nvSpPr>
        <p:spPr/>
        <p:txBody>
          <a:bodyPr/>
          <a:lstStyle/>
          <a:p>
            <a:fld id="{F922F2BF-7229-47D9-81B2-1F885F7979BE}" type="slidenum">
              <a:rPr lang="en-US" smtClean="0"/>
              <a:t>15</a:t>
            </a:fld>
            <a:endParaRPr lang="en-US"/>
          </a:p>
        </p:txBody>
      </p:sp>
    </p:spTree>
    <p:extLst>
      <p:ext uri="{BB962C8B-B14F-4D97-AF65-F5344CB8AC3E}">
        <p14:creationId xmlns:p14="http://schemas.microsoft.com/office/powerpoint/2010/main" val="1696772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amanda</a:t>
            </a:r>
          </a:p>
        </p:txBody>
      </p:sp>
    </p:spTree>
    <p:extLst>
      <p:ext uri="{BB962C8B-B14F-4D97-AF65-F5344CB8AC3E}">
        <p14:creationId xmlns:p14="http://schemas.microsoft.com/office/powerpoint/2010/main" val="145578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17</a:t>
            </a:fld>
            <a:endParaRPr lang="en-US"/>
          </a:p>
        </p:txBody>
      </p:sp>
    </p:spTree>
    <p:extLst>
      <p:ext uri="{BB962C8B-B14F-4D97-AF65-F5344CB8AC3E}">
        <p14:creationId xmlns:p14="http://schemas.microsoft.com/office/powerpoint/2010/main" val="282399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18</a:t>
            </a:fld>
            <a:endParaRPr lang="en-US"/>
          </a:p>
        </p:txBody>
      </p:sp>
    </p:spTree>
    <p:extLst>
      <p:ext uri="{BB962C8B-B14F-4D97-AF65-F5344CB8AC3E}">
        <p14:creationId xmlns:p14="http://schemas.microsoft.com/office/powerpoint/2010/main" val="1732607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amanda</a:t>
            </a:r>
          </a:p>
        </p:txBody>
      </p:sp>
      <p:sp>
        <p:nvSpPr>
          <p:cNvPr id="4" name="Slide Number Placeholder 3"/>
          <p:cNvSpPr>
            <a:spLocks noGrp="1"/>
          </p:cNvSpPr>
          <p:nvPr>
            <p:ph type="sldNum" sz="quarter" idx="5"/>
          </p:nvPr>
        </p:nvSpPr>
        <p:spPr/>
        <p:txBody>
          <a:bodyPr/>
          <a:lstStyle/>
          <a:p>
            <a:fld id="{F922F2BF-7229-47D9-81B2-1F885F7979BE}" type="slidenum">
              <a:rPr lang="en-US" smtClean="0"/>
              <a:t>19</a:t>
            </a:fld>
            <a:endParaRPr lang="en-US"/>
          </a:p>
        </p:txBody>
      </p:sp>
    </p:spTree>
    <p:extLst>
      <p:ext uri="{BB962C8B-B14F-4D97-AF65-F5344CB8AC3E}">
        <p14:creationId xmlns:p14="http://schemas.microsoft.com/office/powerpoint/2010/main" val="2371192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30370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499C-D1F2-C143-70A9-AF9E767103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D98504-8A6E-E33E-9415-B4096C46A1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94E312-C26D-5440-0CB9-501AE81B9680}"/>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1EA90AE3-CC06-54AB-F85A-70CF91C74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43DE2A-D0EF-1F9A-B690-EAA7D2833085}"/>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1734599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13A7-9497-19C5-BC31-995CEAB0F9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A3C738-E54F-2271-A015-010D9DA13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457A21-2B72-0F0F-9796-82F0AF565D31}"/>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255F54BF-D6CB-5B97-6212-569B6B3B1F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5AF3F7-4EAA-64AB-392B-E09C03CFEFE8}"/>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1655474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F60F3-38B7-333C-8960-AD355C7E17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DD17FC-4C57-2C0D-2410-1955AFB7A2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BE47D8-3FE4-2B49-5C5B-8B813C966581}"/>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A08131E1-EF87-CE29-3370-325FB3A24E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CB614E-0BF9-8A5D-1DF8-B7B0E8D90C78}"/>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3788180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51134-BB43-8A90-00D3-27665AA5F9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4F95FE-62F5-2A0D-96F3-75CB9BA229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472EDF9-A50F-4016-6C7B-323A217D73F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3486C3-046F-5EC3-3DA5-1DC154F7E560}"/>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6" name="Footer Placeholder 5">
            <a:extLst>
              <a:ext uri="{FF2B5EF4-FFF2-40B4-BE49-F238E27FC236}">
                <a16:creationId xmlns:a16="http://schemas.microsoft.com/office/drawing/2014/main" id="{D79C2507-D822-96D7-5AD8-6E2B31992F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A0DB6C-C0B1-83A4-6E91-FE4E18B0C8A6}"/>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4141697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43EA-DFF4-FF72-C2BF-268C88CBDE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A6B462-808D-24BD-D13B-D4F0FF47A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CEDFA0-215B-14A4-23D8-BDD2CA961C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B643E6-CE91-786C-84BF-585BD324F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163D26-78FB-4216-1C87-15119CF04E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0FB5F1D-B64A-C45E-F96E-EC7DBD4AAFA5}"/>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8" name="Footer Placeholder 7">
            <a:extLst>
              <a:ext uri="{FF2B5EF4-FFF2-40B4-BE49-F238E27FC236}">
                <a16:creationId xmlns:a16="http://schemas.microsoft.com/office/drawing/2014/main" id="{F0AE6FDD-662F-7A00-13E0-A43BD45FEF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3AC950-9B63-0BF4-E32F-6E0E54C44694}"/>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856640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D9FD-639F-2236-BBDA-165C2FCCAC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C1F082-D49A-3784-8C40-86D211A64D7A}"/>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4" name="Footer Placeholder 3">
            <a:extLst>
              <a:ext uri="{FF2B5EF4-FFF2-40B4-BE49-F238E27FC236}">
                <a16:creationId xmlns:a16="http://schemas.microsoft.com/office/drawing/2014/main" id="{D1160E83-D8CB-B378-1D06-939FC5D676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22D4F3-D673-E9D9-0AD0-AC28D7C18197}"/>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890118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4679DC-EF20-B2A1-DAC1-B43F5915A8EB}"/>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3" name="Footer Placeholder 2">
            <a:extLst>
              <a:ext uri="{FF2B5EF4-FFF2-40B4-BE49-F238E27FC236}">
                <a16:creationId xmlns:a16="http://schemas.microsoft.com/office/drawing/2014/main" id="{CBAE282C-077B-9222-5CE9-3BA245B1F1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8E05B3-0DCC-9450-03B5-8D13B7EFE2BE}"/>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211635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FE4B-22D8-FE60-5568-E1F7A072E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9DD6B0-35D7-3DEC-AA51-271DC7239A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B809F-8530-7506-F320-E8FFFDAFB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19CDE-7299-1D1C-CAD6-B3731540BA51}"/>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6" name="Footer Placeholder 5">
            <a:extLst>
              <a:ext uri="{FF2B5EF4-FFF2-40B4-BE49-F238E27FC236}">
                <a16:creationId xmlns:a16="http://schemas.microsoft.com/office/drawing/2014/main" id="{D703B0CD-BF99-B460-6191-C4A706C928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54884A-ACC0-270D-09B5-E2FE93F1F6D9}"/>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123259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B8694-0232-B97A-424D-3AA7E58317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8AE0666-8E43-BABC-F3A0-7D571AC019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CF7149-5814-9EE7-83D0-492DAB4C1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7F16BC-A8BF-5207-E5D3-91AB0C25604F}"/>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6" name="Footer Placeholder 5">
            <a:extLst>
              <a:ext uri="{FF2B5EF4-FFF2-40B4-BE49-F238E27FC236}">
                <a16:creationId xmlns:a16="http://schemas.microsoft.com/office/drawing/2014/main" id="{D55B6814-DFD7-BF3F-0737-E22B0F4513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672D74-E9B4-8469-53FE-02924F6D292F}"/>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3986705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F225-80C7-43A1-F6FD-629499E35E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2A2429-329D-7337-30B5-428695D79B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09B42-3865-0BCE-DA9B-82B9EBB2371D}"/>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E9E91040-431F-BE4C-0D21-B13F93E42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26EB63-C18D-A269-0A49-242120D21C37}"/>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2097222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F8A807-8557-2956-0AFD-97BB3C9D6E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8A1E40-CE1C-66DF-4B72-6CEC68C4FF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EA047B-F984-0A00-A558-9AC8E3B94D1A}"/>
              </a:ext>
            </a:extLst>
          </p:cNvPr>
          <p:cNvSpPr>
            <a:spLocks noGrp="1"/>
          </p:cNvSpPr>
          <p:nvPr>
            <p:ph type="dt" sz="half" idx="10"/>
          </p:nvPr>
        </p:nvSpPr>
        <p:spPr/>
        <p:txBody>
          <a:body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A6F2BD3E-7677-CF0D-1961-62546E9142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4A00B5-A6D4-BA1E-AC40-96441042FC8C}"/>
              </a:ext>
            </a:extLst>
          </p:cNvPr>
          <p:cNvSpPr>
            <a:spLocks noGrp="1"/>
          </p:cNvSpPr>
          <p:nvPr>
            <p:ph type="sldNum" sz="quarter" idx="12"/>
          </p:nvPr>
        </p:nvSpPr>
        <p:spPr/>
        <p:txBody>
          <a:bodyPr/>
          <a:lstStyle/>
          <a:p>
            <a:fld id="{09885106-4B48-47BB-8A90-6F0132918385}" type="slidenum">
              <a:rPr lang="en-US" smtClean="0"/>
              <a:t>‹#›</a:t>
            </a:fld>
            <a:endParaRPr lang="en-US"/>
          </a:p>
        </p:txBody>
      </p:sp>
    </p:spTree>
    <p:extLst>
      <p:ext uri="{BB962C8B-B14F-4D97-AF65-F5344CB8AC3E}">
        <p14:creationId xmlns:p14="http://schemas.microsoft.com/office/powerpoint/2010/main" val="1342273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11894" y="2872208"/>
            <a:ext cx="12215771" cy="1153909"/>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grpSp>
      <p:sp>
        <p:nvSpPr>
          <p:cNvPr id="22" name="Title 21"/>
          <p:cNvSpPr>
            <a:spLocks noGrp="1"/>
          </p:cNvSpPr>
          <p:nvPr>
            <p:ph type="title" hasCustomPrompt="1"/>
          </p:nvPr>
        </p:nvSpPr>
        <p:spPr>
          <a:xfrm>
            <a:off x="509273" y="4345490"/>
            <a:ext cx="4957031" cy="1562941"/>
          </a:xfrm>
          <a:prstGeom prst="rect">
            <a:avLst/>
          </a:prstGeom>
        </p:spPr>
        <p:txBody>
          <a:bodyPr vert="horz"/>
          <a:lstStyle>
            <a:lvl1pPr algn="l">
              <a:defRPr>
                <a:solidFill>
                  <a:srgbClr val="007DC3"/>
                </a:solidFill>
              </a:defRPr>
            </a:lvl1pPr>
          </a:lstStyle>
          <a:p>
            <a:r>
              <a:rPr lang="en-US"/>
              <a:t>CLICK TO EDIT MASTER TITLE STYLE</a:t>
            </a:r>
          </a:p>
        </p:txBody>
      </p:sp>
      <p:pic>
        <p:nvPicPr>
          <p:cNvPr id="21" name="Picture 20"/>
          <p:cNvPicPr>
            <a:picLocks noChangeAspect="1"/>
          </p:cNvPicPr>
          <p:nvPr userDrawn="1"/>
        </p:nvPicPr>
        <p:blipFill>
          <a:blip r:embed="rId2"/>
          <a:stretch>
            <a:fillRect/>
          </a:stretch>
        </p:blipFill>
        <p:spPr>
          <a:xfrm>
            <a:off x="10713113" y="6015481"/>
            <a:ext cx="1212887" cy="620353"/>
          </a:xfrm>
          <a:prstGeom prst="rect">
            <a:avLst/>
          </a:prstGeom>
        </p:spPr>
      </p:pic>
      <p:grpSp>
        <p:nvGrpSpPr>
          <p:cNvPr id="27" name="Group 26"/>
          <p:cNvGrpSpPr/>
          <p:nvPr userDrawn="1"/>
        </p:nvGrpSpPr>
        <p:grpSpPr>
          <a:xfrm>
            <a:off x="4338317" y="389892"/>
            <a:ext cx="3505808" cy="5365547"/>
            <a:chOff x="3253738" y="292419"/>
            <a:chExt cx="2629356" cy="4024160"/>
          </a:xfrm>
        </p:grpSpPr>
        <p:pic>
          <p:nvPicPr>
            <p:cNvPr id="26" name="Picture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2400"/>
              </a:p>
            </p:txBody>
          </p:sp>
          <p:pic>
            <p:nvPicPr>
              <p:cNvPr id="24" name="Picture 2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154621170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263924" y="200352"/>
            <a:ext cx="11630733" cy="603981"/>
          </a:xfrm>
          <a:prstGeom prst="rect">
            <a:avLst/>
          </a:prstGeom>
        </p:spPr>
        <p:txBody>
          <a:bodyPr anchor="t">
            <a:noAutofit/>
          </a:bodyPr>
          <a:lstStyle>
            <a:lvl1pPr>
              <a:defRPr sz="2667" b="0">
                <a:solidFill>
                  <a:schemeClr val="tx1"/>
                </a:solidFill>
              </a:defRPr>
            </a:lvl1pPr>
          </a:lstStyle>
          <a:p>
            <a:r>
              <a:rPr lang="en-US"/>
              <a:t>Title text</a:t>
            </a:r>
          </a:p>
        </p:txBody>
      </p:sp>
      <p:sp>
        <p:nvSpPr>
          <p:cNvPr id="3" name="Text Placeholder 2"/>
          <p:cNvSpPr>
            <a:spLocks noGrp="1"/>
          </p:cNvSpPr>
          <p:nvPr>
            <p:ph type="body" sz="quarter" idx="10"/>
          </p:nvPr>
        </p:nvSpPr>
        <p:spPr>
          <a:xfrm>
            <a:off x="263925" y="979286"/>
            <a:ext cx="11229263" cy="4880879"/>
          </a:xfrm>
          <a:prstGeom prst="rect">
            <a:avLst/>
          </a:prstGeom>
        </p:spPr>
        <p:txBody>
          <a:bodyPr/>
          <a:lstStyle>
            <a:lvl1pPr marL="150280" indent="-150280">
              <a:defRPr sz="1867">
                <a:solidFill>
                  <a:schemeClr val="tx2">
                    <a:lumMod val="50000"/>
                  </a:schemeClr>
                </a:solidFill>
                <a:latin typeface="Arial" panose="020B0604020202020204" pitchFamily="34" charset="0"/>
                <a:cs typeface="Arial" panose="020B0604020202020204" pitchFamily="34" charset="0"/>
              </a:defRPr>
            </a:lvl1pPr>
            <a:lvl2pPr marL="533387" indent="-232828">
              <a:defRPr sz="1600">
                <a:solidFill>
                  <a:schemeClr val="tx2">
                    <a:lumMod val="50000"/>
                  </a:schemeClr>
                </a:solidFill>
                <a:latin typeface="Arial" panose="020B0604020202020204" pitchFamily="34" charset="0"/>
                <a:cs typeface="Arial" panose="020B0604020202020204" pitchFamily="34" charset="0"/>
              </a:defRPr>
            </a:lvl2pPr>
            <a:lvl3pPr marL="986342" indent="-220128">
              <a:defRPr sz="1467">
                <a:solidFill>
                  <a:schemeClr val="tx2">
                    <a:lumMod val="50000"/>
                  </a:schemeClr>
                </a:solidFill>
                <a:latin typeface="Arial" panose="020B0604020202020204" pitchFamily="34" charset="0"/>
                <a:cs typeface="Arial" panose="020B0604020202020204" pitchFamily="34" charset="0"/>
              </a:defRPr>
            </a:lvl3pPr>
            <a:lvl4pPr marL="1451997" indent="-315376">
              <a:defRPr sz="1600">
                <a:solidFill>
                  <a:schemeClr val="tx2">
                    <a:lumMod val="50000"/>
                  </a:schemeClr>
                </a:solidFill>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Shape 42"/>
          <p:cNvSpPr>
            <a:spLocks noGrp="1"/>
          </p:cNvSpPr>
          <p:nvPr>
            <p:ph type="sldNum" sz="quarter" idx="2"/>
          </p:nvPr>
        </p:nvSpPr>
        <p:spPr>
          <a:xfrm>
            <a:off x="308518" y="6340177"/>
            <a:ext cx="624383" cy="372535"/>
          </a:xfrm>
          <a:prstGeom prst="rect">
            <a:avLst/>
          </a:prstGeom>
        </p:spPr>
        <p:txBody>
          <a:bodyPr/>
          <a:lstStyle>
            <a:lvl1pPr algn="l">
              <a:defRPr sz="1333">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a:p>
        </p:txBody>
      </p:sp>
      <p:sp>
        <p:nvSpPr>
          <p:cNvPr id="16" name="object 20"/>
          <p:cNvSpPr/>
          <p:nvPr userDrawn="1"/>
        </p:nvSpPr>
        <p:spPr>
          <a:xfrm>
            <a:off x="12064943" y="2832016"/>
            <a:ext cx="138935" cy="1153909"/>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2400"/>
          </a:p>
        </p:txBody>
      </p:sp>
      <p:sp>
        <p:nvSpPr>
          <p:cNvPr id="20" name="object 9"/>
          <p:cNvSpPr/>
          <p:nvPr userDrawn="1"/>
        </p:nvSpPr>
        <p:spPr>
          <a:xfrm>
            <a:off x="-11893" y="2832016"/>
            <a:ext cx="138935" cy="1153909"/>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2400"/>
          </a:p>
        </p:txBody>
      </p:sp>
      <p:pic>
        <p:nvPicPr>
          <p:cNvPr id="10" name="Picture 9"/>
          <p:cNvPicPr>
            <a:picLocks noChangeAspect="1"/>
          </p:cNvPicPr>
          <p:nvPr userDrawn="1"/>
        </p:nvPicPr>
        <p:blipFill>
          <a:blip r:embed="rId2"/>
          <a:stretch>
            <a:fillRect/>
          </a:stretch>
        </p:blipFill>
        <p:spPr>
          <a:xfrm>
            <a:off x="10713113" y="6015481"/>
            <a:ext cx="1212887" cy="620353"/>
          </a:xfrm>
          <a:prstGeom prst="rect">
            <a:avLst/>
          </a:prstGeom>
        </p:spPr>
      </p:pic>
    </p:spTree>
    <p:extLst>
      <p:ext uri="{BB962C8B-B14F-4D97-AF65-F5344CB8AC3E}">
        <p14:creationId xmlns:p14="http://schemas.microsoft.com/office/powerpoint/2010/main" val="39347328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7064181" y="1716478"/>
            <a:ext cx="4233863" cy="908189"/>
          </a:xfrm>
          <a:prstGeom prst="rect">
            <a:avLst/>
          </a:prstGeom>
        </p:spPr>
        <p:txBody>
          <a:bodyPr anchor="ctr">
            <a:noAutofit/>
          </a:bodyPr>
          <a:lstStyle>
            <a:lvl1pPr algn="l">
              <a:defRPr sz="2667">
                <a:solidFill>
                  <a:srgbClr val="007CC3"/>
                </a:solidFill>
              </a:defRPr>
            </a:lvl1pPr>
          </a:lstStyle>
          <a:p>
            <a:r>
              <a:rPr lang="en-US"/>
              <a:t>TITLE TEXT</a:t>
            </a:r>
          </a:p>
        </p:txBody>
      </p:sp>
      <p:sp>
        <p:nvSpPr>
          <p:cNvPr id="7" name="Text Placeholder 2"/>
          <p:cNvSpPr txBox="1">
            <a:spLocks/>
          </p:cNvSpPr>
          <p:nvPr userDrawn="1"/>
        </p:nvSpPr>
        <p:spPr>
          <a:xfrm>
            <a:off x="4061828" y="6033763"/>
            <a:ext cx="5945773" cy="507664"/>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667">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grpSp>
        <p:nvGrpSpPr>
          <p:cNvPr id="3" name="Group 2"/>
          <p:cNvGrpSpPr/>
          <p:nvPr userDrawn="1"/>
        </p:nvGrpSpPr>
        <p:grpSpPr>
          <a:xfrm>
            <a:off x="-11894" y="1102098"/>
            <a:ext cx="12215771" cy="4613149"/>
            <a:chOff x="-8920" y="826573"/>
            <a:chExt cx="9161828" cy="3459862"/>
          </a:xfrm>
          <a:solidFill>
            <a:srgbClr val="007CC3"/>
          </a:solidFill>
        </p:grpSpPr>
        <p:sp>
          <p:nvSpPr>
            <p:cNvPr id="27" name="object 2"/>
            <p:cNvSpPr/>
            <p:nvPr userDrawn="1"/>
          </p:nvSpPr>
          <p:spPr>
            <a:xfrm>
              <a:off x="2073399" y="826573"/>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2400"/>
            </a:p>
          </p:txBody>
        </p:sp>
        <p:grpSp>
          <p:nvGrpSpPr>
            <p:cNvPr id="2" name="Group 1"/>
            <p:cNvGrpSpPr/>
            <p:nvPr userDrawn="1"/>
          </p:nvGrpSpPr>
          <p:grpSpPr>
            <a:xfrm>
              <a:off x="-8920" y="2124012"/>
              <a:ext cx="9161828" cy="865432"/>
              <a:chOff x="-8920" y="2124012"/>
              <a:chExt cx="9161828" cy="865432"/>
            </a:xfrm>
            <a:grpFill/>
          </p:grpSpPr>
          <p:sp>
            <p:nvSpPr>
              <p:cNvPr id="1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2"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3"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4"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6"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17"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8"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19"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29"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30"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31"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32"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2400"/>
              </a:p>
            </p:txBody>
          </p:sp>
          <p:sp>
            <p:nvSpPr>
              <p:cNvPr id="33"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34"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35"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sp>
            <p:nvSpPr>
              <p:cNvPr id="3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2400"/>
              </a:p>
            </p:txBody>
          </p:sp>
        </p:grpSp>
      </p:grpSp>
      <p:pic>
        <p:nvPicPr>
          <p:cNvPr id="28" name="Picture 27"/>
          <p:cNvPicPr>
            <a:picLocks noChangeAspect="1"/>
          </p:cNvPicPr>
          <p:nvPr userDrawn="1"/>
        </p:nvPicPr>
        <p:blipFill>
          <a:blip r:embed="rId2"/>
          <a:stretch>
            <a:fillRect/>
          </a:stretch>
        </p:blipFill>
        <p:spPr>
          <a:xfrm>
            <a:off x="10713113" y="6015481"/>
            <a:ext cx="1212887" cy="620353"/>
          </a:xfrm>
          <a:prstGeom prst="rect">
            <a:avLst/>
          </a:prstGeom>
        </p:spPr>
      </p:pic>
    </p:spTree>
    <p:extLst>
      <p:ext uri="{BB962C8B-B14F-4D97-AF65-F5344CB8AC3E}">
        <p14:creationId xmlns:p14="http://schemas.microsoft.com/office/powerpoint/2010/main" val="270550881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E5BA03-AFF2-D59C-DA31-80BF73BABF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1DA49E-7F28-A08F-FC80-6F2DA09550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6082E-C68A-9470-C5CE-CC3744B1F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0ADA9A-502B-4614-BCD2-8A539281C2E3}" type="datetimeFigureOut">
              <a:rPr lang="en-US" smtClean="0"/>
              <a:t>8/28/2024</a:t>
            </a:fld>
            <a:endParaRPr lang="en-US"/>
          </a:p>
        </p:txBody>
      </p:sp>
      <p:sp>
        <p:nvSpPr>
          <p:cNvPr id="5" name="Footer Placeholder 4">
            <a:extLst>
              <a:ext uri="{FF2B5EF4-FFF2-40B4-BE49-F238E27FC236}">
                <a16:creationId xmlns:a16="http://schemas.microsoft.com/office/drawing/2014/main" id="{A654A25A-EC89-DC16-454F-D9CD6B0151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79F825-D19A-5CCB-A503-6BA8A8DB55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885106-4B48-47BB-8A90-6F0132918385}" type="slidenum">
              <a:rPr lang="en-US" smtClean="0"/>
              <a:t>‹#›</a:t>
            </a:fld>
            <a:endParaRPr lang="en-US"/>
          </a:p>
        </p:txBody>
      </p:sp>
    </p:spTree>
    <p:extLst>
      <p:ext uri="{BB962C8B-B14F-4D97-AF65-F5344CB8AC3E}">
        <p14:creationId xmlns:p14="http://schemas.microsoft.com/office/powerpoint/2010/main" val="264850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gif"/></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customXml" Target="../ink/ink1.xml"/><Relationship Id="rId4" Type="http://schemas.openxmlformats.org/officeDocument/2006/relationships/image" Target="cid:da41d9b8-9593-44da-b1c5-ba52cef82135@apcprd02.prod.outlook.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slideLayout" Target="../slideLayouts/slideLayout13.xml"/><Relationship Id="rId7" Type="http://schemas.openxmlformats.org/officeDocument/2006/relationships/image" Target="../media/image1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3.xm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 Id="rId9" Type="http://schemas.openxmlformats.org/officeDocument/2006/relationships/image" Target="../media/image24.jpe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5.xml"/><Relationship Id="rId18" Type="http://schemas.openxmlformats.org/officeDocument/2006/relationships/image" Target="../media/image30.png"/><Relationship Id="rId3" Type="http://schemas.openxmlformats.org/officeDocument/2006/relationships/image" Target="../media/image18.png"/><Relationship Id="rId7" Type="http://schemas.openxmlformats.org/officeDocument/2006/relationships/customXml" Target="../ink/ink2.xml"/><Relationship Id="rId12" Type="http://schemas.openxmlformats.org/officeDocument/2006/relationships/image" Target="../media/image27.png"/><Relationship Id="rId17" Type="http://schemas.openxmlformats.org/officeDocument/2006/relationships/customXml" Target="../ink/ink7.xml"/><Relationship Id="rId2" Type="http://schemas.openxmlformats.org/officeDocument/2006/relationships/notesSlide" Target="../notesSlides/notesSlide8.xml"/><Relationship Id="rId16" Type="http://schemas.openxmlformats.org/officeDocument/2006/relationships/image" Target="../media/image29.png"/><Relationship Id="rId1" Type="http://schemas.openxmlformats.org/officeDocument/2006/relationships/slideLayout" Target="../slideLayouts/slideLayout13.xml"/><Relationship Id="rId6" Type="http://schemas.openxmlformats.org/officeDocument/2006/relationships/image" Target="../media/image12.png"/><Relationship Id="rId11" Type="http://schemas.openxmlformats.org/officeDocument/2006/relationships/customXml" Target="../ink/ink4.xml"/><Relationship Id="rId5" Type="http://schemas.openxmlformats.org/officeDocument/2006/relationships/image" Target="../media/image11.png"/><Relationship Id="rId15" Type="http://schemas.openxmlformats.org/officeDocument/2006/relationships/customXml" Target="../ink/ink6.xml"/><Relationship Id="rId10" Type="http://schemas.openxmlformats.org/officeDocument/2006/relationships/image" Target="../media/image26.png"/><Relationship Id="rId4" Type="http://schemas.openxmlformats.org/officeDocument/2006/relationships/image" Target="../media/image19.png"/><Relationship Id="rId9" Type="http://schemas.openxmlformats.org/officeDocument/2006/relationships/customXml" Target="../ink/ink3.xml"/><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5.png"/><Relationship Id="rId5" Type="http://schemas.openxmlformats.org/officeDocument/2006/relationships/customXml" Target="../ink/ink8.xml"/><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13" Type="http://schemas.openxmlformats.org/officeDocument/2006/relationships/image" Target="../media/image37.png"/><Relationship Id="rId3" Type="http://schemas.microsoft.com/office/2007/relationships/media" Target="../media/media2.mp4"/><Relationship Id="rId7" Type="http://schemas.openxmlformats.org/officeDocument/2006/relationships/slideLayout" Target="../slideLayouts/slideLayout13.xml"/><Relationship Id="rId12" Type="http://schemas.openxmlformats.org/officeDocument/2006/relationships/image" Target="../media/image36.png"/><Relationship Id="rId2" Type="http://schemas.openxmlformats.org/officeDocument/2006/relationships/video" Target="../media/media1.mp4"/><Relationship Id="rId1" Type="http://schemas.microsoft.com/office/2007/relationships/media" Target="../media/media1.mp4"/><Relationship Id="rId6" Type="http://schemas.microsoft.com/office/2007/relationships/media" Target="../media/media3.mp4"/><Relationship Id="rId11" Type="http://schemas.openxmlformats.org/officeDocument/2006/relationships/image" Target="../media/image15.png"/><Relationship Id="rId5" Type="http://schemas.openxmlformats.org/officeDocument/2006/relationships/video" Target="NULL" TargetMode="External"/><Relationship Id="rId10" Type="http://schemas.openxmlformats.org/officeDocument/2006/relationships/image" Target="../media/image35.png"/><Relationship Id="rId4" Type="http://schemas.openxmlformats.org/officeDocument/2006/relationships/video" Target="../media/media2.mp4"/><Relationship Id="rId9" Type="http://schemas.openxmlformats.org/officeDocument/2006/relationships/customXml" Target="../ink/ink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36.png"/><Relationship Id="rId5" Type="http://schemas.openxmlformats.org/officeDocument/2006/relationships/image" Target="../media/image14.jpe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theory.stanford.edu/~amitp/GameProgramming/Heuristics.html"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hyperlink" Target="https://github.com/ultralytics/yolov5" TargetMode="External"/><Relationship Id="rId4" Type="http://schemas.openxmlformats.org/officeDocument/2006/relationships/hyperlink" Target="https://github.com/rwightman/posenet-pytorch"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hyperlink" Target="https://edtechmethods.com/student-posts/final-project-a-get-to-know-you-activity/" TargetMode="External"/><Relationship Id="rId2" Type="http://schemas.openxmlformats.org/officeDocument/2006/relationships/image" Target="../media/image39.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97793" y="6018411"/>
            <a:ext cx="1191945" cy="612960"/>
          </a:xfrm>
          <a:prstGeom prst="rect">
            <a:avLst/>
          </a:prstGeom>
        </p:spPr>
      </p:pic>
      <p:pic>
        <p:nvPicPr>
          <p:cNvPr id="8" name="Picture 7"/>
          <p:cNvPicPr>
            <a:picLocks noChangeAspect="1"/>
          </p:cNvPicPr>
          <p:nvPr/>
        </p:nvPicPr>
        <p:blipFill rotWithShape="1">
          <a:blip r:embed="rId4">
            <a:extLst>
              <a:ext uri="{28A0092B-C50C-407E-A947-70E740481C1C}">
                <a14:useLocalDpi xmlns:a14="http://schemas.microsoft.com/office/drawing/2010/main" val="0"/>
              </a:ext>
            </a:extLst>
          </a:blip>
          <a:srcRect r="23186" b="-257"/>
          <a:stretch/>
        </p:blipFill>
        <p:spPr>
          <a:xfrm>
            <a:off x="327655" y="274704"/>
            <a:ext cx="2422527" cy="379187"/>
          </a:xfrm>
          <a:prstGeom prst="rect">
            <a:avLst/>
          </a:prstGeom>
        </p:spPr>
      </p:pic>
      <p:sp>
        <p:nvSpPr>
          <p:cNvPr id="3" name="Title 2">
            <a:extLst>
              <a:ext uri="{FF2B5EF4-FFF2-40B4-BE49-F238E27FC236}">
                <a16:creationId xmlns:a16="http://schemas.microsoft.com/office/drawing/2014/main" id="{0DE8B158-095B-4B71-AADB-188B69EE4629}"/>
              </a:ext>
            </a:extLst>
          </p:cNvPr>
          <p:cNvSpPr>
            <a:spLocks noGrp="1"/>
          </p:cNvSpPr>
          <p:nvPr>
            <p:ph type="title"/>
          </p:nvPr>
        </p:nvSpPr>
        <p:spPr>
          <a:xfrm>
            <a:off x="115019" y="4345488"/>
            <a:ext cx="5141344" cy="1672923"/>
          </a:xfrm>
        </p:spPr>
        <p:txBody>
          <a:bodyPr>
            <a:normAutofit/>
          </a:bodyPr>
          <a:lstStyle/>
          <a:p>
            <a:r>
              <a:rPr lang="en-US" err="1"/>
              <a:t>InStep</a:t>
            </a:r>
            <a:r>
              <a:rPr lang="en-US"/>
              <a:t> Internship</a:t>
            </a:r>
            <a:br>
              <a:rPr lang="en-US"/>
            </a:br>
            <a:r>
              <a:rPr lang="en-US"/>
              <a:t>Final Presentation</a:t>
            </a:r>
          </a:p>
        </p:txBody>
      </p:sp>
    </p:spTree>
    <p:extLst>
      <p:ext uri="{BB962C8B-B14F-4D97-AF65-F5344CB8AC3E}">
        <p14:creationId xmlns:p14="http://schemas.microsoft.com/office/powerpoint/2010/main" val="123617793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11F89-C7E3-53C4-12AF-2C121A3A3936}"/>
              </a:ext>
            </a:extLst>
          </p:cNvPr>
          <p:cNvSpPr>
            <a:spLocks noGrp="1"/>
          </p:cNvSpPr>
          <p:nvPr>
            <p:ph type="title"/>
          </p:nvPr>
        </p:nvSpPr>
        <p:spPr>
          <a:xfrm>
            <a:off x="263924" y="274240"/>
            <a:ext cx="11630733" cy="603981"/>
          </a:xfrm>
        </p:spPr>
        <p:txBody>
          <a:bodyPr/>
          <a:lstStyle/>
          <a:p>
            <a:r>
              <a:rPr lang="en-US" sz="4400"/>
              <a:t>Meet the Team</a:t>
            </a:r>
          </a:p>
        </p:txBody>
      </p:sp>
      <p:sp>
        <p:nvSpPr>
          <p:cNvPr id="4" name="Slide Number Placeholder 3">
            <a:extLst>
              <a:ext uri="{FF2B5EF4-FFF2-40B4-BE49-F238E27FC236}">
                <a16:creationId xmlns:a16="http://schemas.microsoft.com/office/drawing/2014/main" id="{4467F631-8CC9-4A9C-BB68-5416AC95F0ED}"/>
              </a:ext>
            </a:extLst>
          </p:cNvPr>
          <p:cNvSpPr>
            <a:spLocks noGrp="1"/>
          </p:cNvSpPr>
          <p:nvPr>
            <p:ph type="sldNum" sz="quarter" idx="2"/>
          </p:nvPr>
        </p:nvSpPr>
        <p:spPr/>
        <p:txBody>
          <a:bodyPr/>
          <a:lstStyle/>
          <a:p>
            <a:fld id="{86CB4B4D-7CA3-9044-876B-883B54F8677D}" type="slidenum">
              <a:rPr lang="en-US" smtClean="0"/>
              <a:pPr/>
              <a:t>2</a:t>
            </a:fld>
            <a:endParaRPr lang="en-US"/>
          </a:p>
        </p:txBody>
      </p:sp>
      <p:sp>
        <p:nvSpPr>
          <p:cNvPr id="5" name="Oval 4">
            <a:extLst>
              <a:ext uri="{FF2B5EF4-FFF2-40B4-BE49-F238E27FC236}">
                <a16:creationId xmlns:a16="http://schemas.microsoft.com/office/drawing/2014/main" id="{3106A955-B49D-E4E2-FEF0-2B0E43D031C5}"/>
              </a:ext>
            </a:extLst>
          </p:cNvPr>
          <p:cNvSpPr/>
          <p:nvPr/>
        </p:nvSpPr>
        <p:spPr>
          <a:xfrm>
            <a:off x="932901" y="1207500"/>
            <a:ext cx="2687755" cy="2573867"/>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defTabSz="609585" hangingPunct="0"/>
            <a:endParaRPr lang="en-US" sz="2400">
              <a:solidFill>
                <a:srgbClr val="000000"/>
              </a:solidFill>
              <a:sym typeface="Calibri"/>
            </a:endParaRPr>
          </a:p>
        </p:txBody>
      </p:sp>
      <p:sp>
        <p:nvSpPr>
          <p:cNvPr id="6" name="Oval 5">
            <a:extLst>
              <a:ext uri="{FF2B5EF4-FFF2-40B4-BE49-F238E27FC236}">
                <a16:creationId xmlns:a16="http://schemas.microsoft.com/office/drawing/2014/main" id="{28E0E0EA-5A35-AFDB-A5F4-B1DF71DD2F73}"/>
              </a:ext>
            </a:extLst>
          </p:cNvPr>
          <p:cNvSpPr/>
          <p:nvPr/>
        </p:nvSpPr>
        <p:spPr>
          <a:xfrm>
            <a:off x="4752124" y="1207500"/>
            <a:ext cx="2687755" cy="2573867"/>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algn="ctr" defTabSz="609585"/>
            <a:endParaRPr lang="en-US" sz="2400"/>
          </a:p>
        </p:txBody>
      </p:sp>
      <p:sp>
        <p:nvSpPr>
          <p:cNvPr id="7" name="Oval 6">
            <a:extLst>
              <a:ext uri="{FF2B5EF4-FFF2-40B4-BE49-F238E27FC236}">
                <a16:creationId xmlns:a16="http://schemas.microsoft.com/office/drawing/2014/main" id="{FFE909DB-8D6C-5DAC-413C-D1D2CE426BF4}"/>
              </a:ext>
            </a:extLst>
          </p:cNvPr>
          <p:cNvSpPr/>
          <p:nvPr/>
        </p:nvSpPr>
        <p:spPr>
          <a:xfrm>
            <a:off x="8614478" y="1207500"/>
            <a:ext cx="2687755" cy="2573867"/>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60959" numCol="1" spcCol="38100" rtlCol="0" anchor="ctr">
            <a:noAutofit/>
          </a:bodyPr>
          <a:lstStyle/>
          <a:p>
            <a:pPr algn="ctr" defTabSz="609585" hangingPunct="0"/>
            <a:endParaRPr lang="en-US" sz="2400"/>
          </a:p>
        </p:txBody>
      </p:sp>
      <p:sp>
        <p:nvSpPr>
          <p:cNvPr id="11" name="TextBox 10">
            <a:extLst>
              <a:ext uri="{FF2B5EF4-FFF2-40B4-BE49-F238E27FC236}">
                <a16:creationId xmlns:a16="http://schemas.microsoft.com/office/drawing/2014/main" id="{4530A53C-E591-5D9E-6101-69B5D2E0AFD2}"/>
              </a:ext>
            </a:extLst>
          </p:cNvPr>
          <p:cNvSpPr txBox="1"/>
          <p:nvPr/>
        </p:nvSpPr>
        <p:spPr>
          <a:xfrm>
            <a:off x="1044500" y="4131550"/>
            <a:ext cx="2464556"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ctr" defTabSz="609585" hangingPunct="0"/>
            <a:r>
              <a:rPr lang="en-US" sz="2000" b="1">
                <a:solidFill>
                  <a:srgbClr val="000000"/>
                </a:solidFill>
                <a:latin typeface="Arial"/>
                <a:cs typeface="Arial"/>
                <a:sym typeface="Calibri"/>
              </a:rPr>
              <a:t>Amanda Xu</a:t>
            </a:r>
            <a:endParaRPr lang="en-US" sz="2000" b="1">
              <a:solidFill>
                <a:srgbClr val="000000"/>
              </a:solidFill>
              <a:latin typeface="Arial"/>
              <a:cs typeface="Arial"/>
            </a:endParaRPr>
          </a:p>
          <a:p>
            <a:pPr algn="ctr" defTabSz="609585" hangingPunct="0"/>
            <a:endParaRPr lang="en-US" sz="2000" b="1">
              <a:solidFill>
                <a:srgbClr val="000000"/>
              </a:solidFill>
              <a:latin typeface="Arial"/>
              <a:cs typeface="Arial"/>
            </a:endParaRPr>
          </a:p>
          <a:p>
            <a:pPr algn="ctr" defTabSz="609585" hangingPunct="0"/>
            <a:r>
              <a:rPr lang="en-US" sz="2000">
                <a:latin typeface="Arial"/>
                <a:cs typeface="Arial"/>
              </a:rPr>
              <a:t>Incoming 3</a:t>
            </a:r>
            <a:r>
              <a:rPr lang="en-US" sz="2000" baseline="30000">
                <a:latin typeface="Arial"/>
                <a:cs typeface="Arial"/>
              </a:rPr>
              <a:t>rd</a:t>
            </a:r>
            <a:r>
              <a:rPr lang="en-US" sz="2000">
                <a:latin typeface="Arial"/>
                <a:cs typeface="Arial"/>
              </a:rPr>
              <a:t> year CS major @ UCLA</a:t>
            </a:r>
            <a:endParaRPr lang="en-US" sz="2000">
              <a:solidFill>
                <a:srgbClr val="000000"/>
              </a:solidFill>
              <a:latin typeface="Arial"/>
              <a:cs typeface="Arial"/>
            </a:endParaRPr>
          </a:p>
        </p:txBody>
      </p:sp>
      <p:sp>
        <p:nvSpPr>
          <p:cNvPr id="12" name="TextBox 11">
            <a:extLst>
              <a:ext uri="{FF2B5EF4-FFF2-40B4-BE49-F238E27FC236}">
                <a16:creationId xmlns:a16="http://schemas.microsoft.com/office/drawing/2014/main" id="{E86C6C5E-057B-AD34-8CB6-D26538DB8C07}"/>
              </a:ext>
            </a:extLst>
          </p:cNvPr>
          <p:cNvSpPr txBox="1"/>
          <p:nvPr/>
        </p:nvSpPr>
        <p:spPr>
          <a:xfrm>
            <a:off x="8829051" y="4131549"/>
            <a:ext cx="2464556"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ctr" defTabSz="609585" hangingPunct="0"/>
            <a:r>
              <a:rPr lang="en-US" sz="2000" b="1">
                <a:latin typeface="Arial"/>
                <a:cs typeface="Arial"/>
              </a:rPr>
              <a:t>Maan Patel</a:t>
            </a:r>
          </a:p>
          <a:p>
            <a:pPr algn="ctr" defTabSz="609585" hangingPunct="0"/>
            <a:endParaRPr lang="en-US" sz="2000" b="1">
              <a:latin typeface="Arial"/>
              <a:cs typeface="Arial"/>
            </a:endParaRPr>
          </a:p>
          <a:p>
            <a:pPr algn="ctr" defTabSz="609585"/>
            <a:r>
              <a:rPr lang="en-US" sz="2000">
                <a:latin typeface="Arial"/>
                <a:cs typeface="Arial"/>
              </a:rPr>
              <a:t>Incoming 2</a:t>
            </a:r>
            <a:r>
              <a:rPr lang="en-US" sz="2000" baseline="30000">
                <a:latin typeface="Arial"/>
                <a:cs typeface="Arial"/>
              </a:rPr>
              <a:t>nd</a:t>
            </a:r>
            <a:r>
              <a:rPr lang="en-US" sz="2000">
                <a:latin typeface="Arial"/>
                <a:cs typeface="Arial"/>
              </a:rPr>
              <a:t> year CS major @ UCI</a:t>
            </a:r>
          </a:p>
        </p:txBody>
      </p:sp>
      <p:sp>
        <p:nvSpPr>
          <p:cNvPr id="13" name="TextBox 12">
            <a:extLst>
              <a:ext uri="{FF2B5EF4-FFF2-40B4-BE49-F238E27FC236}">
                <a16:creationId xmlns:a16="http://schemas.microsoft.com/office/drawing/2014/main" id="{6545B87F-D6B6-48C7-ECD7-0A1A7C32B2EF}"/>
              </a:ext>
            </a:extLst>
          </p:cNvPr>
          <p:cNvSpPr txBox="1"/>
          <p:nvPr/>
        </p:nvSpPr>
        <p:spPr>
          <a:xfrm>
            <a:off x="4754339" y="4134940"/>
            <a:ext cx="2701393" cy="1661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121920" tIns="60960" rIns="121920" bIns="60960" anchor="t">
            <a:spAutoFit/>
          </a:bodyPr>
          <a:lstStyle/>
          <a:p>
            <a:pPr algn="ctr" defTabSz="609585" hangingPunct="0"/>
            <a:r>
              <a:rPr lang="en-US" sz="2000" b="1">
                <a:solidFill>
                  <a:srgbClr val="000000"/>
                </a:solidFill>
                <a:latin typeface="Arial"/>
                <a:cs typeface="Arial"/>
                <a:sym typeface="Calibri"/>
              </a:rPr>
              <a:t>Paul Richard</a:t>
            </a:r>
            <a:endParaRPr lang="en-US" sz="2000" b="1">
              <a:solidFill>
                <a:srgbClr val="000000"/>
              </a:solidFill>
              <a:latin typeface="Arial"/>
              <a:cs typeface="Arial"/>
            </a:endParaRPr>
          </a:p>
          <a:p>
            <a:pPr algn="ctr" defTabSz="609585" hangingPunct="0"/>
            <a:endParaRPr lang="en-US" sz="2000" b="1">
              <a:solidFill>
                <a:srgbClr val="000000"/>
              </a:solidFill>
              <a:latin typeface="Arial"/>
              <a:cs typeface="Arial"/>
            </a:endParaRPr>
          </a:p>
          <a:p>
            <a:pPr algn="ctr"/>
            <a:r>
              <a:rPr lang="en-US" sz="2000">
                <a:latin typeface="Arial"/>
                <a:cs typeface="Arial"/>
              </a:rPr>
              <a:t>Incoming 2</a:t>
            </a:r>
            <a:r>
              <a:rPr lang="en-US" sz="2000" baseline="30000">
                <a:latin typeface="Arial"/>
                <a:cs typeface="Arial"/>
              </a:rPr>
              <a:t>nd</a:t>
            </a:r>
            <a:r>
              <a:rPr lang="en-US" sz="2000">
                <a:latin typeface="Arial"/>
                <a:cs typeface="Arial"/>
              </a:rPr>
              <a:t> year Robotics Masters </a:t>
            </a:r>
          </a:p>
          <a:p>
            <a:pPr algn="ctr"/>
            <a:r>
              <a:rPr lang="en-US" sz="2000">
                <a:latin typeface="Arial"/>
                <a:cs typeface="Arial"/>
              </a:rPr>
              <a:t>@ EPFL</a:t>
            </a:r>
          </a:p>
        </p:txBody>
      </p:sp>
    </p:spTree>
    <p:extLst>
      <p:ext uri="{BB962C8B-B14F-4D97-AF65-F5344CB8AC3E}">
        <p14:creationId xmlns:p14="http://schemas.microsoft.com/office/powerpoint/2010/main" val="45564191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2989-1413-9BAE-788E-08EC3DE5FA97}"/>
              </a:ext>
            </a:extLst>
          </p:cNvPr>
          <p:cNvSpPr>
            <a:spLocks noGrp="1"/>
          </p:cNvSpPr>
          <p:nvPr>
            <p:ph type="title"/>
          </p:nvPr>
        </p:nvSpPr>
        <p:spPr>
          <a:xfrm>
            <a:off x="263924" y="281377"/>
            <a:ext cx="11630733" cy="603981"/>
          </a:xfrm>
        </p:spPr>
        <p:txBody>
          <a:bodyPr/>
          <a:lstStyle/>
          <a:p>
            <a:r>
              <a:rPr lang="en-US" sz="4400"/>
              <a:t>Project Overview</a:t>
            </a:r>
          </a:p>
        </p:txBody>
      </p:sp>
      <p:sp>
        <p:nvSpPr>
          <p:cNvPr id="4" name="Slide Number Placeholder 3">
            <a:extLst>
              <a:ext uri="{FF2B5EF4-FFF2-40B4-BE49-F238E27FC236}">
                <a16:creationId xmlns:a16="http://schemas.microsoft.com/office/drawing/2014/main" id="{4AB41015-BB3F-E587-D188-BEB864E2413C}"/>
              </a:ext>
            </a:extLst>
          </p:cNvPr>
          <p:cNvSpPr>
            <a:spLocks noGrp="1"/>
          </p:cNvSpPr>
          <p:nvPr>
            <p:ph type="sldNum" sz="quarter" idx="2"/>
          </p:nvPr>
        </p:nvSpPr>
        <p:spPr/>
        <p:txBody>
          <a:bodyPr/>
          <a:lstStyle/>
          <a:p>
            <a:fld id="{86CB4B4D-7CA3-9044-876B-883B54F8677D}" type="slidenum">
              <a:rPr lang="en-US" smtClean="0"/>
              <a:pPr/>
              <a:t>3</a:t>
            </a:fld>
            <a:endParaRPr lang="en-US"/>
          </a:p>
        </p:txBody>
      </p:sp>
      <p:sp>
        <p:nvSpPr>
          <p:cNvPr id="15" name="Rectangle 4">
            <a:extLst>
              <a:ext uri="{FF2B5EF4-FFF2-40B4-BE49-F238E27FC236}">
                <a16:creationId xmlns:a16="http://schemas.microsoft.com/office/drawing/2014/main" id="{24CB6600-491A-9BA7-6FE7-0DBF05284EE0}"/>
              </a:ext>
            </a:extLst>
          </p:cNvPr>
          <p:cNvSpPr>
            <a:spLocks noChangeArrowheads="1"/>
          </p:cNvSpPr>
          <p:nvPr/>
        </p:nvSpPr>
        <p:spPr bwMode="auto">
          <a:xfrm>
            <a:off x="2492453" y="-8934915"/>
            <a:ext cx="2495017" cy="13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7" name="Picture 3">
            <a:extLst>
              <a:ext uri="{FF2B5EF4-FFF2-40B4-BE49-F238E27FC236}">
                <a16:creationId xmlns:a16="http://schemas.microsoft.com/office/drawing/2014/main" id="{BD27D8F3-A470-DF8D-4464-441632C82AB7}"/>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81489" y="1472610"/>
            <a:ext cx="4125235" cy="4125235"/>
          </a:xfrm>
          <a:prstGeom prst="rect">
            <a:avLst/>
          </a:prstGeom>
          <a:noFill/>
          <a:extLst>
            <a:ext uri="{909E8E84-426E-40DD-AFC4-6F175D3DCCD1}">
              <a14:hiddenFill xmlns:a14="http://schemas.microsoft.com/office/drawing/2010/main">
                <a:solidFill>
                  <a:srgbClr val="FFFFFF"/>
                </a:solidFill>
              </a14:hiddenFill>
            </a:ext>
          </a:extLst>
        </p:spPr>
      </p:pic>
      <p:sp>
        <p:nvSpPr>
          <p:cNvPr id="16" name="Cube 15">
            <a:extLst>
              <a:ext uri="{FF2B5EF4-FFF2-40B4-BE49-F238E27FC236}">
                <a16:creationId xmlns:a16="http://schemas.microsoft.com/office/drawing/2014/main" id="{F7BCCFD2-D490-388C-F4B4-96859DA1D950}"/>
              </a:ext>
            </a:extLst>
          </p:cNvPr>
          <p:cNvSpPr/>
          <p:nvPr/>
        </p:nvSpPr>
        <p:spPr>
          <a:xfrm>
            <a:off x="1759352" y="2222339"/>
            <a:ext cx="289367" cy="312517"/>
          </a:xfrm>
          <a:prstGeom prst="cube">
            <a:avLst/>
          </a:prstGeom>
          <a:solidFill>
            <a:schemeClr val="accent2">
              <a:lumMod val="20000"/>
              <a:lumOff val="8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8EF87890-75AC-B03C-A1C7-7C2539E21FC7}"/>
              </a:ext>
            </a:extLst>
          </p:cNvPr>
          <p:cNvCxnSpPr>
            <a:cxnSpLocks/>
            <a:stCxn id="16" idx="5"/>
          </p:cNvCxnSpPr>
          <p:nvPr/>
        </p:nvCxnSpPr>
        <p:spPr>
          <a:xfrm flipV="1">
            <a:off x="2048719" y="1886673"/>
            <a:ext cx="1770927" cy="455754"/>
          </a:xfrm>
          <a:prstGeom prst="straightConnector1">
            <a:avLst/>
          </a:prstGeom>
          <a:ln w="762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C7047F1-23A7-2A97-5F11-E86582161233}"/>
              </a:ext>
            </a:extLst>
          </p:cNvPr>
          <p:cNvCxnSpPr>
            <a:cxnSpLocks/>
            <a:stCxn id="16" idx="4"/>
          </p:cNvCxnSpPr>
          <p:nvPr/>
        </p:nvCxnSpPr>
        <p:spPr>
          <a:xfrm>
            <a:off x="1976377" y="2414768"/>
            <a:ext cx="1843269" cy="1014232"/>
          </a:xfrm>
          <a:prstGeom prst="straightConnector1">
            <a:avLst/>
          </a:prstGeom>
          <a:ln w="762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4" name="Arc 23">
            <a:extLst>
              <a:ext uri="{FF2B5EF4-FFF2-40B4-BE49-F238E27FC236}">
                <a16:creationId xmlns:a16="http://schemas.microsoft.com/office/drawing/2014/main" id="{497C6A5F-77CD-50FA-3BA3-33933505F372}"/>
              </a:ext>
            </a:extLst>
          </p:cNvPr>
          <p:cNvSpPr/>
          <p:nvPr/>
        </p:nvSpPr>
        <p:spPr>
          <a:xfrm rot="2939749">
            <a:off x="2045773" y="1724886"/>
            <a:ext cx="1704475" cy="1619940"/>
          </a:xfrm>
          <a:prstGeom prst="arc">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76B5DD22-885A-B497-97DE-5B24F7C50B34}"/>
              </a:ext>
            </a:extLst>
          </p:cNvPr>
          <p:cNvSpPr txBox="1"/>
          <p:nvPr/>
        </p:nvSpPr>
        <p:spPr>
          <a:xfrm>
            <a:off x="1364666" y="1869840"/>
            <a:ext cx="1368106" cy="369332"/>
          </a:xfrm>
          <a:prstGeom prst="rect">
            <a:avLst/>
          </a:prstGeom>
          <a:noFill/>
        </p:spPr>
        <p:txBody>
          <a:bodyPr wrap="square" rtlCol="0">
            <a:spAutoFit/>
          </a:bodyPr>
          <a:lstStyle/>
          <a:p>
            <a:r>
              <a:rPr lang="en-US">
                <a:solidFill>
                  <a:srgbClr val="FF0000"/>
                </a:solidFill>
              </a:rPr>
              <a:t>CAMERA</a:t>
            </a:r>
          </a:p>
        </p:txBody>
      </p:sp>
      <mc:AlternateContent xmlns:mc="http://schemas.openxmlformats.org/markup-compatibility/2006" xmlns:p14="http://schemas.microsoft.com/office/powerpoint/2010/main">
        <mc:Choice Requires="p14">
          <p:contentPart p14:bwMode="auto" r:id="rId5">
            <p14:nvContentPartPr>
              <p14:cNvPr id="32" name="Ink 31">
                <a:extLst>
                  <a:ext uri="{FF2B5EF4-FFF2-40B4-BE49-F238E27FC236}">
                    <a16:creationId xmlns:a16="http://schemas.microsoft.com/office/drawing/2014/main" id="{5724ADF2-1BCF-7977-9889-749CFE1D2FFB}"/>
                  </a:ext>
                </a:extLst>
              </p14:cNvPr>
              <p14:cNvContentPartPr/>
              <p14:nvPr/>
            </p14:nvContentPartPr>
            <p14:xfrm>
              <a:off x="2082047" y="2081087"/>
              <a:ext cx="1605600" cy="1015920"/>
            </p14:xfrm>
          </p:contentPart>
        </mc:Choice>
        <mc:Fallback xmlns="">
          <p:pic>
            <p:nvPicPr>
              <p:cNvPr id="32" name="Ink 31">
                <a:extLst>
                  <a:ext uri="{FF2B5EF4-FFF2-40B4-BE49-F238E27FC236}">
                    <a16:creationId xmlns:a16="http://schemas.microsoft.com/office/drawing/2014/main" id="{5724ADF2-1BCF-7977-9889-749CFE1D2FFB}"/>
                  </a:ext>
                </a:extLst>
              </p:cNvPr>
              <p:cNvPicPr/>
              <p:nvPr/>
            </p:nvPicPr>
            <p:blipFill>
              <a:blip r:embed="rId6"/>
              <a:stretch>
                <a:fillRect/>
              </a:stretch>
            </p:blipFill>
            <p:spPr>
              <a:xfrm>
                <a:off x="2046047" y="2009087"/>
                <a:ext cx="1677240" cy="1159560"/>
              </a:xfrm>
              <a:prstGeom prst="rect">
                <a:avLst/>
              </a:prstGeom>
            </p:spPr>
          </p:pic>
        </mc:Fallback>
      </mc:AlternateContent>
      <p:sp>
        <p:nvSpPr>
          <p:cNvPr id="34" name="TextBox 33">
            <a:extLst>
              <a:ext uri="{FF2B5EF4-FFF2-40B4-BE49-F238E27FC236}">
                <a16:creationId xmlns:a16="http://schemas.microsoft.com/office/drawing/2014/main" id="{348A2F87-22D6-F818-6C55-99315CD377BA}"/>
              </a:ext>
            </a:extLst>
          </p:cNvPr>
          <p:cNvSpPr txBox="1"/>
          <p:nvPr/>
        </p:nvSpPr>
        <p:spPr>
          <a:xfrm>
            <a:off x="5194138" y="1445272"/>
            <a:ext cx="6105644" cy="4708981"/>
          </a:xfrm>
          <a:prstGeom prst="rect">
            <a:avLst/>
          </a:prstGeom>
          <a:noFill/>
        </p:spPr>
        <p:txBody>
          <a:bodyPr wrap="square">
            <a:spAutoFit/>
          </a:bodyPr>
          <a:lstStyle/>
          <a:p>
            <a:pPr marL="149856" indent="-149856"/>
            <a:r>
              <a:rPr lang="en-US" sz="2000" b="1">
                <a:latin typeface="Arial"/>
                <a:cs typeface="Arial"/>
              </a:rPr>
              <a:t>Objective: </a:t>
            </a:r>
            <a:r>
              <a:rPr lang="en-US" sz="2000">
                <a:latin typeface="Arial"/>
                <a:cs typeface="Arial"/>
              </a:rPr>
              <a:t>Create a Socially Aware Navigation        	      Algorithm based on a camera input </a:t>
            </a:r>
          </a:p>
          <a:p>
            <a:pPr marL="149856" indent="-149856"/>
            <a:endParaRPr lang="en-US" sz="2000">
              <a:latin typeface="Arial"/>
              <a:cs typeface="Arial"/>
            </a:endParaRPr>
          </a:p>
          <a:p>
            <a:pPr marL="149856" indent="-149856"/>
            <a:endParaRPr lang="en-US" sz="2000">
              <a:latin typeface="Arial"/>
              <a:cs typeface="Arial"/>
            </a:endParaRPr>
          </a:p>
          <a:p>
            <a:pPr marL="149856" indent="-149856" algn="just"/>
            <a:r>
              <a:rPr lang="en-US" sz="2000">
                <a:latin typeface="Arial"/>
                <a:cs typeface="Arial"/>
              </a:rPr>
              <a:t>From a camera detect the potential obstacles and plan a safe path to avoid any collision.</a:t>
            </a:r>
          </a:p>
          <a:p>
            <a:pPr marL="149856" indent="-149856" algn="just"/>
            <a:endParaRPr lang="en-US" sz="2000">
              <a:latin typeface="Arial"/>
              <a:cs typeface="Arial"/>
            </a:endParaRPr>
          </a:p>
          <a:p>
            <a:pPr marL="149856" indent="-149856" algn="just"/>
            <a:r>
              <a:rPr lang="en-US" sz="2000">
                <a:latin typeface="Arial"/>
                <a:cs typeface="Arial"/>
              </a:rPr>
              <a:t>Use the camera every second or so to simulate the path.</a:t>
            </a:r>
          </a:p>
          <a:p>
            <a:pPr marL="149856" indent="-149856" algn="just"/>
            <a:endParaRPr lang="en-US" sz="2000">
              <a:latin typeface="Arial"/>
              <a:cs typeface="Arial"/>
            </a:endParaRPr>
          </a:p>
          <a:p>
            <a:pPr marL="149856" indent="-149856" algn="just"/>
            <a:r>
              <a:rPr lang="en-US" sz="2000">
                <a:latin typeface="Arial"/>
                <a:cs typeface="Arial"/>
              </a:rPr>
              <a:t>In the meantime, only use the camera to deduce the speed of the obstacles</a:t>
            </a:r>
          </a:p>
          <a:p>
            <a:pPr marL="149856" indent="-149856" algn="just"/>
            <a:endParaRPr lang="en-US" sz="2000">
              <a:latin typeface="Arial"/>
              <a:cs typeface="Arial"/>
            </a:endParaRPr>
          </a:p>
          <a:p>
            <a:pPr marL="149856" indent="-149856" algn="just"/>
            <a:endParaRPr lang="en-US" sz="2000">
              <a:latin typeface="Arial"/>
              <a:cs typeface="Arial"/>
            </a:endParaRPr>
          </a:p>
          <a:p>
            <a:pPr marL="149856" indent="-149856" algn="just"/>
            <a:endParaRPr lang="en-US" sz="2000">
              <a:latin typeface="Arial"/>
              <a:cs typeface="Arial"/>
            </a:endParaRPr>
          </a:p>
        </p:txBody>
      </p:sp>
    </p:spTree>
    <p:extLst>
      <p:ext uri="{BB962C8B-B14F-4D97-AF65-F5344CB8AC3E}">
        <p14:creationId xmlns:p14="http://schemas.microsoft.com/office/powerpoint/2010/main" val="338320695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2989-1413-9BAE-788E-08EC3DE5FA97}"/>
              </a:ext>
            </a:extLst>
          </p:cNvPr>
          <p:cNvSpPr>
            <a:spLocks noGrp="1"/>
          </p:cNvSpPr>
          <p:nvPr>
            <p:ph type="title"/>
          </p:nvPr>
        </p:nvSpPr>
        <p:spPr>
          <a:xfrm>
            <a:off x="263924" y="281377"/>
            <a:ext cx="11630733" cy="603981"/>
          </a:xfrm>
        </p:spPr>
        <p:txBody>
          <a:bodyPr/>
          <a:lstStyle/>
          <a:p>
            <a:r>
              <a:rPr lang="en-US" sz="4400"/>
              <a:t>Project Overview</a:t>
            </a:r>
          </a:p>
        </p:txBody>
      </p:sp>
      <p:sp>
        <p:nvSpPr>
          <p:cNvPr id="4" name="Slide Number Placeholder 3">
            <a:extLst>
              <a:ext uri="{FF2B5EF4-FFF2-40B4-BE49-F238E27FC236}">
                <a16:creationId xmlns:a16="http://schemas.microsoft.com/office/drawing/2014/main" id="{4AB41015-BB3F-E587-D188-BEB864E2413C}"/>
              </a:ext>
            </a:extLst>
          </p:cNvPr>
          <p:cNvSpPr>
            <a:spLocks noGrp="1"/>
          </p:cNvSpPr>
          <p:nvPr>
            <p:ph type="sldNum" sz="quarter" idx="2"/>
          </p:nvPr>
        </p:nvSpPr>
        <p:spPr/>
        <p:txBody>
          <a:bodyPr/>
          <a:lstStyle/>
          <a:p>
            <a:fld id="{86CB4B4D-7CA3-9044-876B-883B54F8677D}" type="slidenum">
              <a:rPr lang="en-US" smtClean="0"/>
              <a:pPr/>
              <a:t>4</a:t>
            </a:fld>
            <a:endParaRPr lang="en-US"/>
          </a:p>
        </p:txBody>
      </p:sp>
      <p:sp>
        <p:nvSpPr>
          <p:cNvPr id="15" name="Rectangle 4">
            <a:extLst>
              <a:ext uri="{FF2B5EF4-FFF2-40B4-BE49-F238E27FC236}">
                <a16:creationId xmlns:a16="http://schemas.microsoft.com/office/drawing/2014/main" id="{24CB6600-491A-9BA7-6FE7-0DBF05284EE0}"/>
              </a:ext>
            </a:extLst>
          </p:cNvPr>
          <p:cNvSpPr>
            <a:spLocks noChangeArrowheads="1"/>
          </p:cNvSpPr>
          <p:nvPr/>
        </p:nvSpPr>
        <p:spPr bwMode="auto">
          <a:xfrm>
            <a:off x="2492453" y="-8934915"/>
            <a:ext cx="2495017" cy="13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E145E94D-00BF-D62E-22DB-B1DD0D1EED8D}"/>
              </a:ext>
            </a:extLst>
          </p:cNvPr>
          <p:cNvSpPr>
            <a:spLocks noChangeArrowheads="1"/>
          </p:cNvSpPr>
          <p:nvPr/>
        </p:nvSpPr>
        <p:spPr bwMode="auto">
          <a:xfrm>
            <a:off x="1627381" y="-9391959"/>
            <a:ext cx="1904948" cy="9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6" name="Arrow: Right 5">
            <a:extLst>
              <a:ext uri="{FF2B5EF4-FFF2-40B4-BE49-F238E27FC236}">
                <a16:creationId xmlns:a16="http://schemas.microsoft.com/office/drawing/2014/main" id="{ED0B4B5D-DAA3-96B9-03EE-4759B3AFABC2}"/>
              </a:ext>
            </a:extLst>
          </p:cNvPr>
          <p:cNvSpPr/>
          <p:nvPr/>
        </p:nvSpPr>
        <p:spPr>
          <a:xfrm>
            <a:off x="5365915" y="3428999"/>
            <a:ext cx="912350" cy="603981"/>
          </a:xfrm>
          <a:prstGeom prst="rightArrow">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90DE6DB-C27D-4FB5-90FC-F1204F75AE61}"/>
              </a:ext>
            </a:extLst>
          </p:cNvPr>
          <p:cNvPicPr>
            <a:picLocks noChangeAspect="1"/>
          </p:cNvPicPr>
          <p:nvPr/>
        </p:nvPicPr>
        <p:blipFill rotWithShape="1">
          <a:blip r:embed="rId5">
            <a:extLst>
              <a:ext uri="{28A0092B-C50C-407E-A947-70E740481C1C}">
                <a14:useLocalDpi xmlns:a14="http://schemas.microsoft.com/office/drawing/2010/main" val="0"/>
              </a:ext>
            </a:extLst>
          </a:blip>
          <a:srcRect l="2191" t="6407" r="1753" b="2190"/>
          <a:stretch/>
        </p:blipFill>
        <p:spPr>
          <a:xfrm>
            <a:off x="2876645" y="1043711"/>
            <a:ext cx="2233476" cy="2226935"/>
          </a:xfrm>
          <a:prstGeom prst="rect">
            <a:avLst/>
          </a:prstGeom>
        </p:spPr>
      </p:pic>
      <p:pic>
        <p:nvPicPr>
          <p:cNvPr id="13" name="Picture 12">
            <a:extLst>
              <a:ext uri="{FF2B5EF4-FFF2-40B4-BE49-F238E27FC236}">
                <a16:creationId xmlns:a16="http://schemas.microsoft.com/office/drawing/2014/main" id="{58526103-C6D0-3246-B286-529DA78CEF0A}"/>
              </a:ext>
            </a:extLst>
          </p:cNvPr>
          <p:cNvPicPr>
            <a:picLocks noChangeAspect="1"/>
          </p:cNvPicPr>
          <p:nvPr/>
        </p:nvPicPr>
        <p:blipFill rotWithShape="1">
          <a:blip r:embed="rId6">
            <a:extLst>
              <a:ext uri="{28A0092B-C50C-407E-A947-70E740481C1C}">
                <a14:useLocalDpi xmlns:a14="http://schemas.microsoft.com/office/drawing/2010/main" val="0"/>
              </a:ext>
            </a:extLst>
          </a:blip>
          <a:srcRect l="2455" t="6488" r="2017" b="2092"/>
          <a:stretch/>
        </p:blipFill>
        <p:spPr>
          <a:xfrm>
            <a:off x="364729" y="3883390"/>
            <a:ext cx="2215126" cy="2221229"/>
          </a:xfrm>
          <a:prstGeom prst="rect">
            <a:avLst/>
          </a:prstGeom>
        </p:spPr>
      </p:pic>
      <p:pic>
        <p:nvPicPr>
          <p:cNvPr id="16" name="Picture 15">
            <a:extLst>
              <a:ext uri="{FF2B5EF4-FFF2-40B4-BE49-F238E27FC236}">
                <a16:creationId xmlns:a16="http://schemas.microsoft.com/office/drawing/2014/main" id="{6135A935-4FF2-3F29-B0BC-6D319F2160CF}"/>
              </a:ext>
            </a:extLst>
          </p:cNvPr>
          <p:cNvPicPr>
            <a:picLocks noChangeAspect="1"/>
          </p:cNvPicPr>
          <p:nvPr/>
        </p:nvPicPr>
        <p:blipFill rotWithShape="1">
          <a:blip r:embed="rId7">
            <a:extLst>
              <a:ext uri="{28A0092B-C50C-407E-A947-70E740481C1C}">
                <a14:useLocalDpi xmlns:a14="http://schemas.microsoft.com/office/drawing/2010/main" val="0"/>
              </a:ext>
            </a:extLst>
          </a:blip>
          <a:srcRect l="36644" t="27193" r="36644" b="25228"/>
          <a:stretch/>
        </p:blipFill>
        <p:spPr>
          <a:xfrm>
            <a:off x="2966853" y="3883390"/>
            <a:ext cx="2221229" cy="2225414"/>
          </a:xfrm>
          <a:prstGeom prst="rect">
            <a:avLst/>
          </a:prstGeom>
        </p:spPr>
      </p:pic>
      <p:pic>
        <p:nvPicPr>
          <p:cNvPr id="20" name="Picture 19">
            <a:extLst>
              <a:ext uri="{FF2B5EF4-FFF2-40B4-BE49-F238E27FC236}">
                <a16:creationId xmlns:a16="http://schemas.microsoft.com/office/drawing/2014/main" id="{94B98547-EB91-FA22-CA5F-3B1E98F1A3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8518" y="1049417"/>
            <a:ext cx="2221229" cy="2221229"/>
          </a:xfrm>
          <a:prstGeom prst="rect">
            <a:avLst/>
          </a:prstGeom>
        </p:spPr>
      </p:pic>
      <p:pic>
        <p:nvPicPr>
          <p:cNvPr id="21" name="81CC4412">
            <a:hlinkClick r:id="" action="ppaction://media"/>
            <a:extLst>
              <a:ext uri="{FF2B5EF4-FFF2-40B4-BE49-F238E27FC236}">
                <a16:creationId xmlns:a16="http://schemas.microsoft.com/office/drawing/2014/main" id="{295D686B-D275-2C01-B52A-89FD47B66831}"/>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6319128" y="1539808"/>
            <a:ext cx="5598711" cy="4373993"/>
          </a:xfrm>
          <a:prstGeom prst="rect">
            <a:avLst/>
          </a:prstGeom>
        </p:spPr>
      </p:pic>
      <p:sp>
        <p:nvSpPr>
          <p:cNvPr id="5" name="Text Placeholder 2">
            <a:extLst>
              <a:ext uri="{FF2B5EF4-FFF2-40B4-BE49-F238E27FC236}">
                <a16:creationId xmlns:a16="http://schemas.microsoft.com/office/drawing/2014/main" id="{52DEF5ED-814C-BCF6-50CA-A55E27A4A10A}"/>
              </a:ext>
            </a:extLst>
          </p:cNvPr>
          <p:cNvSpPr>
            <a:spLocks noGrp="1"/>
          </p:cNvSpPr>
          <p:nvPr>
            <p:ph type="body" sz="quarter" idx="10"/>
          </p:nvPr>
        </p:nvSpPr>
        <p:spPr>
          <a:xfrm>
            <a:off x="608191" y="3270646"/>
            <a:ext cx="1621882" cy="398181"/>
          </a:xfrm>
        </p:spPr>
        <p:txBody>
          <a:bodyPr vert="horz" lIns="121920" tIns="60960" rIns="121920" bIns="60960" rtlCol="0" anchor="t">
            <a:noAutofit/>
          </a:bodyPr>
          <a:lstStyle/>
          <a:p>
            <a:pPr marL="0" indent="0">
              <a:buNone/>
            </a:pPr>
            <a:r>
              <a:rPr lang="en-US" sz="2000"/>
              <a:t>Input Image</a:t>
            </a:r>
          </a:p>
        </p:txBody>
      </p:sp>
      <p:sp>
        <p:nvSpPr>
          <p:cNvPr id="7" name="Text Placeholder 2">
            <a:extLst>
              <a:ext uri="{FF2B5EF4-FFF2-40B4-BE49-F238E27FC236}">
                <a16:creationId xmlns:a16="http://schemas.microsoft.com/office/drawing/2014/main" id="{99675D9C-8E2B-1B69-6815-1604416EA844}"/>
              </a:ext>
            </a:extLst>
          </p:cNvPr>
          <p:cNvSpPr txBox="1">
            <a:spLocks/>
          </p:cNvSpPr>
          <p:nvPr/>
        </p:nvSpPr>
        <p:spPr>
          <a:xfrm>
            <a:off x="3178510" y="3270645"/>
            <a:ext cx="1710990"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Depth Image</a:t>
            </a:r>
          </a:p>
        </p:txBody>
      </p:sp>
      <p:sp>
        <p:nvSpPr>
          <p:cNvPr id="8" name="Text Placeholder 2">
            <a:extLst>
              <a:ext uri="{FF2B5EF4-FFF2-40B4-BE49-F238E27FC236}">
                <a16:creationId xmlns:a16="http://schemas.microsoft.com/office/drawing/2014/main" id="{93151F3A-03A7-2282-28C2-C123958E5BA8}"/>
              </a:ext>
            </a:extLst>
          </p:cNvPr>
          <p:cNvSpPr txBox="1">
            <a:spLocks/>
          </p:cNvSpPr>
          <p:nvPr/>
        </p:nvSpPr>
        <p:spPr>
          <a:xfrm>
            <a:off x="392294" y="6069587"/>
            <a:ext cx="2396726"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Person detection</a:t>
            </a:r>
          </a:p>
        </p:txBody>
      </p:sp>
      <p:sp>
        <p:nvSpPr>
          <p:cNvPr id="10" name="Text Placeholder 2">
            <a:extLst>
              <a:ext uri="{FF2B5EF4-FFF2-40B4-BE49-F238E27FC236}">
                <a16:creationId xmlns:a16="http://schemas.microsoft.com/office/drawing/2014/main" id="{79B5D73F-627E-C70E-2BBE-CFD5B23C72F2}"/>
              </a:ext>
            </a:extLst>
          </p:cNvPr>
          <p:cNvSpPr txBox="1">
            <a:spLocks/>
          </p:cNvSpPr>
          <p:nvPr/>
        </p:nvSpPr>
        <p:spPr>
          <a:xfrm>
            <a:off x="3356879" y="6069587"/>
            <a:ext cx="2396726"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Orientation</a:t>
            </a:r>
          </a:p>
        </p:txBody>
      </p:sp>
      <p:sp>
        <p:nvSpPr>
          <p:cNvPr id="11" name="Text Placeholder 2">
            <a:extLst>
              <a:ext uri="{FF2B5EF4-FFF2-40B4-BE49-F238E27FC236}">
                <a16:creationId xmlns:a16="http://schemas.microsoft.com/office/drawing/2014/main" id="{A5E26DFD-2C7B-F9B9-0A6E-76BBC6B6D103}"/>
              </a:ext>
            </a:extLst>
          </p:cNvPr>
          <p:cNvSpPr txBox="1">
            <a:spLocks/>
          </p:cNvSpPr>
          <p:nvPr/>
        </p:nvSpPr>
        <p:spPr>
          <a:xfrm>
            <a:off x="8621894" y="6029510"/>
            <a:ext cx="2396726"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Simulation</a:t>
            </a:r>
          </a:p>
        </p:txBody>
      </p:sp>
      <p:sp>
        <p:nvSpPr>
          <p:cNvPr id="12" name="Arrow: Right 11">
            <a:extLst>
              <a:ext uri="{FF2B5EF4-FFF2-40B4-BE49-F238E27FC236}">
                <a16:creationId xmlns:a16="http://schemas.microsoft.com/office/drawing/2014/main" id="{7C06A873-A25F-B028-0303-1E167D6449C0}"/>
              </a:ext>
            </a:extLst>
          </p:cNvPr>
          <p:cNvSpPr/>
          <p:nvPr/>
        </p:nvSpPr>
        <p:spPr>
          <a:xfrm>
            <a:off x="2492453" y="2021942"/>
            <a:ext cx="641797" cy="398181"/>
          </a:xfrm>
          <a:prstGeom prst="rightArrow">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BD92D0E1-C34B-568F-B454-97FA1DF79A39}"/>
              </a:ext>
            </a:extLst>
          </p:cNvPr>
          <p:cNvSpPr/>
          <p:nvPr/>
        </p:nvSpPr>
        <p:spPr>
          <a:xfrm>
            <a:off x="2511408" y="4794913"/>
            <a:ext cx="641797" cy="398181"/>
          </a:xfrm>
          <a:prstGeom prst="rightArrow">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BADE28FC-C1A3-3A60-2DC4-75AEF0BC7517}"/>
              </a:ext>
            </a:extLst>
          </p:cNvPr>
          <p:cNvSpPr/>
          <p:nvPr/>
        </p:nvSpPr>
        <p:spPr>
          <a:xfrm rot="5400000">
            <a:off x="-17141" y="3387280"/>
            <a:ext cx="1250663" cy="325719"/>
          </a:xfrm>
          <a:prstGeom prst="rightArrow">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54381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3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1"/>
                                        </p:tgtEl>
                                      </p:cBhvr>
                                    </p:cmd>
                                  </p:childTnLst>
                                </p:cTn>
                              </p:par>
                            </p:childTnLst>
                          </p:cTn>
                        </p:par>
                      </p:childTnLst>
                    </p:cTn>
                  </p:par>
                </p:childTnLst>
              </p:cTn>
              <p:nextCondLst>
                <p:cond evt="onClick" delay="0">
                  <p:tgtEl>
                    <p:spTgt spid="21"/>
                  </p:tgtEl>
                </p:cond>
              </p:nextCondLst>
            </p:seq>
            <p:video>
              <p:cMediaNode vol="80000">
                <p:cTn id="12" fill="hold" display="0">
                  <p:stCondLst>
                    <p:cond delay="indefinite"/>
                  </p:stCondLst>
                </p:cTn>
                <p:tgtEl>
                  <p:spTgt spid="21"/>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280633" y="77922"/>
            <a:ext cx="11630733" cy="603981"/>
          </a:xfrm>
        </p:spPr>
        <p:txBody>
          <a:bodyPr vert="horz" lIns="121920" tIns="60960" rIns="121920" bIns="60960" rtlCol="0" anchor="t">
            <a:noAutofit/>
          </a:bodyPr>
          <a:lstStyle/>
          <a:p>
            <a:r>
              <a:rPr lang="en-US" sz="4400"/>
              <a:t>1.  Person Detection: Yolov5</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5</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308518" y="988560"/>
            <a:ext cx="11054119" cy="4880879"/>
          </a:xfrm>
        </p:spPr>
        <p:txBody>
          <a:bodyPr vert="horz" lIns="121920" tIns="60960" rIns="121920" bIns="60960" rtlCol="0" anchor="t">
            <a:normAutofit/>
          </a:bodyPr>
          <a:lstStyle/>
          <a:p>
            <a:pPr marL="0" indent="0">
              <a:buNone/>
            </a:pPr>
            <a:endParaRPr lang="en-US" sz="2100"/>
          </a:p>
          <a:p>
            <a:pPr marL="0" indent="0"/>
            <a:endParaRPr lang="en-US" sz="2133">
              <a:latin typeface="Arial"/>
              <a:cs typeface="Arial"/>
            </a:endParaRPr>
          </a:p>
          <a:p>
            <a:pPr marL="0" indent="0"/>
            <a:endParaRPr lang="en-US" sz="2400">
              <a:latin typeface="Arial"/>
              <a:cs typeface="Arial"/>
            </a:endParaRPr>
          </a:p>
          <a:p>
            <a:pPr marL="0" indent="0"/>
            <a:endParaRPr lang="en-US" sz="2400">
              <a:latin typeface="Arial"/>
              <a:cs typeface="Arial"/>
            </a:endParaRPr>
          </a:p>
        </p:txBody>
      </p:sp>
      <p:sp>
        <p:nvSpPr>
          <p:cNvPr id="3" name="TextBox 2">
            <a:extLst>
              <a:ext uri="{FF2B5EF4-FFF2-40B4-BE49-F238E27FC236}">
                <a16:creationId xmlns:a16="http://schemas.microsoft.com/office/drawing/2014/main" id="{2DBE9413-3082-4C83-1278-6DD2638003C9}"/>
              </a:ext>
            </a:extLst>
          </p:cNvPr>
          <p:cNvSpPr txBox="1"/>
          <p:nvPr/>
        </p:nvSpPr>
        <p:spPr>
          <a:xfrm>
            <a:off x="601877" y="998355"/>
            <a:ext cx="10128521"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Why Yolov5?</a:t>
            </a:r>
          </a:p>
          <a:p>
            <a:pPr marL="342900" indent="-342900">
              <a:buFont typeface="Wingdings" panose="05000000000000000000" pitchFamily="2" charset="2"/>
              <a:buChar char="Ø"/>
            </a:pPr>
            <a:endParaRPr lang="en-US" sz="2000"/>
          </a:p>
          <a:p>
            <a:pPr marL="342900" indent="-342900">
              <a:buFont typeface="Wingdings" panose="05000000000000000000" pitchFamily="2" charset="2"/>
              <a:buChar char="Ø"/>
            </a:pPr>
            <a:r>
              <a:rPr lang="en-US" sz="2000">
                <a:latin typeface="Arial"/>
                <a:cs typeface="Arial"/>
              </a:rPr>
              <a:t>Optimal for accurate person detection and does it fast</a:t>
            </a:r>
          </a:p>
          <a:p>
            <a:pPr marL="342900" indent="-342900">
              <a:buFont typeface="Wingdings" panose="05000000000000000000" pitchFamily="2" charset="2"/>
              <a:buChar char="Ø"/>
            </a:pPr>
            <a:endParaRPr lang="en-US" sz="2000"/>
          </a:p>
          <a:p>
            <a:pPr marL="342900" indent="-342900">
              <a:buFont typeface="Wingdings" panose="05000000000000000000" pitchFamily="2" charset="2"/>
              <a:buChar char="Ø"/>
            </a:pPr>
            <a:r>
              <a:rPr lang="en-US" sz="2000">
                <a:latin typeface="Arial"/>
                <a:cs typeface="Arial"/>
              </a:rPr>
              <a:t>Latest Yolo model that aligns with licensing guidelines</a:t>
            </a:r>
          </a:p>
        </p:txBody>
      </p:sp>
      <p:pic>
        <p:nvPicPr>
          <p:cNvPr id="8" name="Picture 7" descr="A group of men standing in a room&#10;&#10;Description automatically generated">
            <a:extLst>
              <a:ext uri="{FF2B5EF4-FFF2-40B4-BE49-F238E27FC236}">
                <a16:creationId xmlns:a16="http://schemas.microsoft.com/office/drawing/2014/main" id="{86B563AB-177D-4CC5-C63B-4544EC260CA7}"/>
              </a:ext>
            </a:extLst>
          </p:cNvPr>
          <p:cNvPicPr>
            <a:picLocks noChangeAspect="1"/>
          </p:cNvPicPr>
          <p:nvPr/>
        </p:nvPicPr>
        <p:blipFill rotWithShape="1">
          <a:blip r:embed="rId3">
            <a:extLst>
              <a:ext uri="{28A0092B-C50C-407E-A947-70E740481C1C}">
                <a14:useLocalDpi xmlns:a14="http://schemas.microsoft.com/office/drawing/2010/main" val="0"/>
              </a:ext>
            </a:extLst>
          </a:blip>
          <a:srcRect l="2455" t="6488" r="2017" b="2092"/>
          <a:stretch/>
        </p:blipFill>
        <p:spPr>
          <a:xfrm>
            <a:off x="7083318" y="3241584"/>
            <a:ext cx="3268384" cy="3277389"/>
          </a:xfrm>
          <a:prstGeom prst="rect">
            <a:avLst/>
          </a:prstGeom>
        </p:spPr>
      </p:pic>
      <p:pic>
        <p:nvPicPr>
          <p:cNvPr id="10" name="Picture 9" descr="A group of people standing in a lobby&#10;&#10;Description automatically generated">
            <a:extLst>
              <a:ext uri="{FF2B5EF4-FFF2-40B4-BE49-F238E27FC236}">
                <a16:creationId xmlns:a16="http://schemas.microsoft.com/office/drawing/2014/main" id="{ADCB82F4-FEF9-2913-7208-014614B359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060" y="3239520"/>
            <a:ext cx="3292147" cy="3302445"/>
          </a:xfrm>
          <a:prstGeom prst="rect">
            <a:avLst/>
          </a:prstGeom>
        </p:spPr>
      </p:pic>
      <p:pic>
        <p:nvPicPr>
          <p:cNvPr id="11" name="Picture 10" descr="Home · ultralytics/yolov5 Wiki · GitHub">
            <a:extLst>
              <a:ext uri="{FF2B5EF4-FFF2-40B4-BE49-F238E27FC236}">
                <a16:creationId xmlns:a16="http://schemas.microsoft.com/office/drawing/2014/main" id="{FC9B44DD-CFE8-6F83-C400-A273E1EC37BB}"/>
              </a:ext>
            </a:extLst>
          </p:cNvPr>
          <p:cNvPicPr>
            <a:picLocks noChangeAspect="1"/>
          </p:cNvPicPr>
          <p:nvPr/>
        </p:nvPicPr>
        <p:blipFill>
          <a:blip r:embed="rId5"/>
          <a:stretch>
            <a:fillRect/>
          </a:stretch>
        </p:blipFill>
        <p:spPr>
          <a:xfrm>
            <a:off x="4336473" y="4057360"/>
            <a:ext cx="2743200" cy="1818990"/>
          </a:xfrm>
          <a:prstGeom prst="rect">
            <a:avLst/>
          </a:prstGeom>
        </p:spPr>
      </p:pic>
    </p:spTree>
    <p:extLst>
      <p:ext uri="{BB962C8B-B14F-4D97-AF65-F5344CB8AC3E}">
        <p14:creationId xmlns:p14="http://schemas.microsoft.com/office/powerpoint/2010/main" val="10208955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280633" y="77922"/>
            <a:ext cx="11630733" cy="603981"/>
          </a:xfrm>
        </p:spPr>
        <p:txBody>
          <a:bodyPr vert="horz" lIns="121920" tIns="60960" rIns="121920" bIns="60960" rtlCol="0" anchor="t">
            <a:noAutofit/>
          </a:bodyPr>
          <a:lstStyle/>
          <a:p>
            <a:r>
              <a:rPr lang="en-US" sz="4400"/>
              <a:t>1.  Person Detection: Yolov5</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6</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308518" y="988560"/>
            <a:ext cx="11054119" cy="4880879"/>
          </a:xfrm>
        </p:spPr>
        <p:txBody>
          <a:bodyPr vert="horz" lIns="121920" tIns="60960" rIns="121920" bIns="60960" rtlCol="0" anchor="t">
            <a:normAutofit/>
          </a:bodyPr>
          <a:lstStyle/>
          <a:p>
            <a:pPr marL="0" indent="0">
              <a:buNone/>
            </a:pPr>
            <a:endParaRPr lang="en-US" sz="2100"/>
          </a:p>
          <a:p>
            <a:pPr marL="0" indent="0"/>
            <a:endParaRPr lang="en-US" sz="2133">
              <a:latin typeface="Arial"/>
              <a:cs typeface="Arial"/>
            </a:endParaRPr>
          </a:p>
          <a:p>
            <a:pPr marL="0" indent="0"/>
            <a:endParaRPr lang="en-US" sz="2400">
              <a:latin typeface="Arial"/>
              <a:cs typeface="Arial"/>
            </a:endParaRPr>
          </a:p>
          <a:p>
            <a:pPr marL="0" indent="0"/>
            <a:endParaRPr lang="en-US" sz="2400">
              <a:latin typeface="Arial"/>
              <a:cs typeface="Arial"/>
            </a:endParaRPr>
          </a:p>
        </p:txBody>
      </p:sp>
      <p:sp>
        <p:nvSpPr>
          <p:cNvPr id="3" name="TextBox 2">
            <a:extLst>
              <a:ext uri="{FF2B5EF4-FFF2-40B4-BE49-F238E27FC236}">
                <a16:creationId xmlns:a16="http://schemas.microsoft.com/office/drawing/2014/main" id="{2DBE9413-3082-4C83-1278-6DD2638003C9}"/>
              </a:ext>
            </a:extLst>
          </p:cNvPr>
          <p:cNvSpPr txBox="1"/>
          <p:nvPr/>
        </p:nvSpPr>
        <p:spPr>
          <a:xfrm>
            <a:off x="601877" y="998355"/>
            <a:ext cx="11171023"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cs typeface="Arial"/>
              </a:rPr>
              <a:t>How does it work?</a:t>
            </a:r>
            <a:endParaRPr lang="en-US">
              <a:latin typeface="Arial"/>
              <a:cs typeface="Arial"/>
            </a:endParaRPr>
          </a:p>
          <a:p>
            <a:pPr marL="342900" indent="-342900">
              <a:buFont typeface="Wingdings" panose="05000000000000000000" pitchFamily="2" charset="2"/>
              <a:buChar char="Ø"/>
            </a:pPr>
            <a:endParaRPr lang="en-US" sz="2000"/>
          </a:p>
          <a:p>
            <a:pPr marL="342900" indent="-342900">
              <a:buFont typeface="Wingdings" panose="05000000000000000000" pitchFamily="2" charset="2"/>
              <a:buChar char="Ø"/>
            </a:pPr>
            <a:r>
              <a:rPr lang="en-US" sz="2000">
                <a:latin typeface="Arial"/>
                <a:cs typeface="Arial"/>
              </a:rPr>
              <a:t>Pass in image to the Yolov5 model</a:t>
            </a:r>
          </a:p>
          <a:p>
            <a:pPr marL="342900" indent="-342900">
              <a:buFont typeface="Wingdings" panose="05000000000000000000" pitchFamily="2" charset="2"/>
              <a:buChar char="Ø"/>
            </a:pPr>
            <a:r>
              <a:rPr lang="en-US" sz="2000">
                <a:latin typeface="Arial"/>
                <a:cs typeface="Arial"/>
              </a:rPr>
              <a:t>Model outputs data of the bounds of where the person is and the confidence of the prediction</a:t>
            </a:r>
          </a:p>
          <a:p>
            <a:pPr marL="342900" indent="-342900">
              <a:buFont typeface="Wingdings" panose="05000000000000000000" pitchFamily="2" charset="2"/>
              <a:buChar char="Ø"/>
            </a:pPr>
            <a:r>
              <a:rPr lang="en-US" sz="2000">
                <a:latin typeface="Arial"/>
                <a:cs typeface="Arial"/>
              </a:rPr>
              <a:t>We can then draw a box based on the bounds given to us through the predictions</a:t>
            </a:r>
          </a:p>
        </p:txBody>
      </p:sp>
      <p:pic>
        <p:nvPicPr>
          <p:cNvPr id="9" name="Picture 8" descr="A group of men standing in a room&#10;&#10;Description automatically generated">
            <a:extLst>
              <a:ext uri="{FF2B5EF4-FFF2-40B4-BE49-F238E27FC236}">
                <a16:creationId xmlns:a16="http://schemas.microsoft.com/office/drawing/2014/main" id="{B9E0EE1B-BB8C-66BC-FE1A-78CC61C77B57}"/>
              </a:ext>
            </a:extLst>
          </p:cNvPr>
          <p:cNvPicPr>
            <a:picLocks noChangeAspect="1"/>
          </p:cNvPicPr>
          <p:nvPr/>
        </p:nvPicPr>
        <p:blipFill rotWithShape="1">
          <a:blip r:embed="rId3">
            <a:extLst>
              <a:ext uri="{28A0092B-C50C-407E-A947-70E740481C1C}">
                <a14:useLocalDpi xmlns:a14="http://schemas.microsoft.com/office/drawing/2010/main" val="0"/>
              </a:ext>
            </a:extLst>
          </a:blip>
          <a:srcRect l="2455" t="6488" r="2017" b="2092"/>
          <a:stretch/>
        </p:blipFill>
        <p:spPr>
          <a:xfrm>
            <a:off x="7083318" y="3241584"/>
            <a:ext cx="3268384" cy="3277389"/>
          </a:xfrm>
          <a:prstGeom prst="rect">
            <a:avLst/>
          </a:prstGeom>
        </p:spPr>
      </p:pic>
      <p:pic>
        <p:nvPicPr>
          <p:cNvPr id="7" name="Picture 6" descr="A group of people standing in a lobby&#10;&#10;Description automatically generated">
            <a:extLst>
              <a:ext uri="{FF2B5EF4-FFF2-40B4-BE49-F238E27FC236}">
                <a16:creationId xmlns:a16="http://schemas.microsoft.com/office/drawing/2014/main" id="{E73EBC55-B9E6-51EC-95D3-5EE66354CD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060" y="3239520"/>
            <a:ext cx="3292147" cy="3302445"/>
          </a:xfrm>
          <a:prstGeom prst="rect">
            <a:avLst/>
          </a:prstGeom>
        </p:spPr>
      </p:pic>
      <p:pic>
        <p:nvPicPr>
          <p:cNvPr id="6" name="Picture 5" descr="Home · ultralytics/yolov5 Wiki · GitHub">
            <a:extLst>
              <a:ext uri="{FF2B5EF4-FFF2-40B4-BE49-F238E27FC236}">
                <a16:creationId xmlns:a16="http://schemas.microsoft.com/office/drawing/2014/main" id="{89C6F792-50C2-D5BD-AC18-EFCA847BD399}"/>
              </a:ext>
            </a:extLst>
          </p:cNvPr>
          <p:cNvPicPr>
            <a:picLocks noChangeAspect="1"/>
          </p:cNvPicPr>
          <p:nvPr/>
        </p:nvPicPr>
        <p:blipFill>
          <a:blip r:embed="rId5"/>
          <a:stretch>
            <a:fillRect/>
          </a:stretch>
        </p:blipFill>
        <p:spPr>
          <a:xfrm>
            <a:off x="4336473" y="4057360"/>
            <a:ext cx="2743200" cy="1818990"/>
          </a:xfrm>
          <a:prstGeom prst="rect">
            <a:avLst/>
          </a:prstGeom>
        </p:spPr>
      </p:pic>
    </p:spTree>
    <p:extLst>
      <p:ext uri="{BB962C8B-B14F-4D97-AF65-F5344CB8AC3E}">
        <p14:creationId xmlns:p14="http://schemas.microsoft.com/office/powerpoint/2010/main" val="248913309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263925" y="258227"/>
            <a:ext cx="11239916" cy="603981"/>
          </a:xfrm>
        </p:spPr>
        <p:txBody>
          <a:bodyPr vert="horz" lIns="121920" tIns="60960" rIns="121920" bIns="60960" rtlCol="0" anchor="t">
            <a:noAutofit/>
          </a:bodyPr>
          <a:lstStyle/>
          <a:p>
            <a:r>
              <a:rPr lang="en-US" sz="4400"/>
              <a:t>2. Depth Estimation: Depth Anything model </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7</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304257" y="1118760"/>
            <a:ext cx="1969044" cy="603811"/>
          </a:xfrm>
        </p:spPr>
        <p:txBody>
          <a:bodyPr vert="horz" lIns="121920" tIns="60960" rIns="121920" bIns="60960" rtlCol="0" anchor="t">
            <a:normAutofit/>
          </a:bodyPr>
          <a:lstStyle/>
          <a:p>
            <a:pPr marL="0" indent="0">
              <a:buNone/>
            </a:pPr>
            <a:r>
              <a:rPr lang="en-US" sz="2000" b="1">
                <a:latin typeface="Arial"/>
                <a:cs typeface="Arial"/>
              </a:rPr>
              <a:t>Motivations:</a:t>
            </a:r>
            <a:endParaRPr lang="en-US" sz="2000" b="1"/>
          </a:p>
          <a:p>
            <a:pPr marL="609585" indent="-609585"/>
            <a:endParaRPr lang="en-US" sz="2000">
              <a:latin typeface="Arial"/>
              <a:cs typeface="Arial"/>
            </a:endParaRPr>
          </a:p>
        </p:txBody>
      </p:sp>
      <p:pic>
        <p:nvPicPr>
          <p:cNvPr id="6" name="Picture 5" descr="A collage of images of buildings and a building&#10;&#10;Description automatically generated">
            <a:extLst>
              <a:ext uri="{FF2B5EF4-FFF2-40B4-BE49-F238E27FC236}">
                <a16:creationId xmlns:a16="http://schemas.microsoft.com/office/drawing/2014/main" id="{7239BA09-17F6-E67B-CEDF-53145617A7FA}"/>
              </a:ext>
            </a:extLst>
          </p:cNvPr>
          <p:cNvPicPr>
            <a:picLocks noChangeAspect="1"/>
          </p:cNvPicPr>
          <p:nvPr/>
        </p:nvPicPr>
        <p:blipFill>
          <a:blip r:embed="rId3"/>
          <a:stretch>
            <a:fillRect/>
          </a:stretch>
        </p:blipFill>
        <p:spPr>
          <a:xfrm>
            <a:off x="134815" y="2752789"/>
            <a:ext cx="11922369" cy="2382641"/>
          </a:xfrm>
          <a:prstGeom prst="rect">
            <a:avLst/>
          </a:prstGeom>
        </p:spPr>
      </p:pic>
      <p:cxnSp>
        <p:nvCxnSpPr>
          <p:cNvPr id="9" name="Straight Arrow Connector 8">
            <a:extLst>
              <a:ext uri="{FF2B5EF4-FFF2-40B4-BE49-F238E27FC236}">
                <a16:creationId xmlns:a16="http://schemas.microsoft.com/office/drawing/2014/main" id="{61F54521-4419-8585-235A-7A4A9B31C29F}"/>
              </a:ext>
            </a:extLst>
          </p:cNvPr>
          <p:cNvCxnSpPr>
            <a:cxnSpLocks/>
          </p:cNvCxnSpPr>
          <p:nvPr/>
        </p:nvCxnSpPr>
        <p:spPr>
          <a:xfrm flipH="1" flipV="1">
            <a:off x="1388962" y="4879637"/>
            <a:ext cx="4097438" cy="61635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E4B80E2-AF19-F679-9C91-E5402BBE7ECA}"/>
              </a:ext>
            </a:extLst>
          </p:cNvPr>
          <p:cNvCxnSpPr>
            <a:cxnSpLocks/>
          </p:cNvCxnSpPr>
          <p:nvPr/>
        </p:nvCxnSpPr>
        <p:spPr>
          <a:xfrm flipH="1" flipV="1">
            <a:off x="3613150" y="5063029"/>
            <a:ext cx="1873250" cy="43296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CA72336-673E-3387-8BF7-06EE7948B0C1}"/>
              </a:ext>
            </a:extLst>
          </p:cNvPr>
          <p:cNvCxnSpPr>
            <a:cxnSpLocks/>
          </p:cNvCxnSpPr>
          <p:nvPr/>
        </p:nvCxnSpPr>
        <p:spPr>
          <a:xfrm flipV="1">
            <a:off x="5488811" y="4592003"/>
            <a:ext cx="81023" cy="89447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1085C505-6551-8D84-D2AA-D0C2DA0325B8}"/>
              </a:ext>
            </a:extLst>
          </p:cNvPr>
          <p:cNvCxnSpPr>
            <a:cxnSpLocks/>
          </p:cNvCxnSpPr>
          <p:nvPr/>
        </p:nvCxnSpPr>
        <p:spPr>
          <a:xfrm flipV="1">
            <a:off x="5445197" y="5063029"/>
            <a:ext cx="1707957" cy="43296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29DC768-B6F1-45D8-3115-6193E90A73C2}"/>
              </a:ext>
            </a:extLst>
          </p:cNvPr>
          <p:cNvCxnSpPr>
            <a:cxnSpLocks/>
          </p:cNvCxnSpPr>
          <p:nvPr/>
        </p:nvCxnSpPr>
        <p:spPr>
          <a:xfrm flipV="1">
            <a:off x="5486400" y="5010615"/>
            <a:ext cx="3750197" cy="485374"/>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DAFAD41-9C4E-F440-4BF3-5913D28211D7}"/>
              </a:ext>
            </a:extLst>
          </p:cNvPr>
          <p:cNvCxnSpPr>
            <a:cxnSpLocks/>
          </p:cNvCxnSpPr>
          <p:nvPr/>
        </p:nvCxnSpPr>
        <p:spPr>
          <a:xfrm flipV="1">
            <a:off x="5445197" y="5063029"/>
            <a:ext cx="5223347" cy="43296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B41AC6C-A66C-DB0E-5D56-5F34E6296212}"/>
              </a:ext>
            </a:extLst>
          </p:cNvPr>
          <p:cNvSpPr txBox="1"/>
          <p:nvPr/>
        </p:nvSpPr>
        <p:spPr>
          <a:xfrm>
            <a:off x="-163806" y="5638369"/>
            <a:ext cx="11328902" cy="707886"/>
          </a:xfrm>
          <a:prstGeom prst="rect">
            <a:avLst/>
          </a:prstGeom>
          <a:noFill/>
        </p:spPr>
        <p:txBody>
          <a:bodyPr wrap="square" lIns="91440" tIns="45720" rIns="91440" bIns="45720" rtlCol="0" anchor="t">
            <a:spAutoFit/>
          </a:bodyPr>
          <a:lstStyle/>
          <a:p>
            <a:pPr algn="ctr"/>
            <a:r>
              <a:rPr lang="en-US" sz="2000">
                <a:latin typeface="Arial"/>
                <a:cs typeface="Arial"/>
              </a:rPr>
              <a:t>Closest element is given a pixel value of 255, and subsequent pixel values are given a proportionally lower value</a:t>
            </a:r>
          </a:p>
        </p:txBody>
      </p:sp>
      <p:sp>
        <p:nvSpPr>
          <p:cNvPr id="3" name="Text Placeholder 2">
            <a:extLst>
              <a:ext uri="{FF2B5EF4-FFF2-40B4-BE49-F238E27FC236}">
                <a16:creationId xmlns:a16="http://schemas.microsoft.com/office/drawing/2014/main" id="{6E4A32D2-6F1B-0413-D98C-A812DC87952D}"/>
              </a:ext>
            </a:extLst>
          </p:cNvPr>
          <p:cNvSpPr txBox="1">
            <a:spLocks/>
          </p:cNvSpPr>
          <p:nvPr/>
        </p:nvSpPr>
        <p:spPr>
          <a:xfrm>
            <a:off x="817267" y="1551643"/>
            <a:ext cx="4943710" cy="1318557"/>
          </a:xfrm>
          <a:prstGeom prst="rect">
            <a:avLst/>
          </a:prstGeom>
        </p:spPr>
        <p:txBody>
          <a:bodyPr vert="horz" lIns="121920" tIns="60960" rIns="121920" bIns="60960" rtlCol="0" anchor="t">
            <a:norm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Deduce Depth from a 2d image </a:t>
            </a:r>
          </a:p>
          <a:p>
            <a:pPr>
              <a:buFont typeface="Wingdings" panose="05000000000000000000" pitchFamily="2" charset="2"/>
              <a:buChar char="Ø"/>
            </a:pPr>
            <a:r>
              <a:rPr lang="en-US" sz="2000">
                <a:latin typeface="Arial"/>
                <a:cs typeface="Arial"/>
              </a:rPr>
              <a:t> Works with any camera: low cost</a:t>
            </a:r>
          </a:p>
          <a:p>
            <a:pPr>
              <a:buFont typeface="Wingdings" panose="05000000000000000000" pitchFamily="2" charset="2"/>
              <a:buChar char="Ø"/>
            </a:pPr>
            <a:r>
              <a:rPr lang="en-US" sz="2000">
                <a:latin typeface="Arial"/>
                <a:cs typeface="Arial"/>
              </a:rPr>
              <a:t> No access to a depth camera dataset</a:t>
            </a:r>
          </a:p>
          <a:p>
            <a:pPr marL="0" indent="0">
              <a:buFont typeface="Arial" panose="020B0604020202020204" pitchFamily="34" charset="0"/>
              <a:buNone/>
            </a:pPr>
            <a:endParaRPr lang="en-US" sz="2000"/>
          </a:p>
          <a:p>
            <a:pPr marL="609585" indent="-609585"/>
            <a:endParaRPr lang="en-US" sz="2000">
              <a:latin typeface="Arial"/>
              <a:cs typeface="Arial"/>
            </a:endParaRPr>
          </a:p>
        </p:txBody>
      </p:sp>
      <p:sp>
        <p:nvSpPr>
          <p:cNvPr id="7" name="Text Placeholder 2">
            <a:extLst>
              <a:ext uri="{FF2B5EF4-FFF2-40B4-BE49-F238E27FC236}">
                <a16:creationId xmlns:a16="http://schemas.microsoft.com/office/drawing/2014/main" id="{01F9B9EA-F0CF-F738-0084-F9FB44F76C01}"/>
              </a:ext>
            </a:extLst>
          </p:cNvPr>
          <p:cNvSpPr txBox="1">
            <a:spLocks/>
          </p:cNvSpPr>
          <p:nvPr/>
        </p:nvSpPr>
        <p:spPr>
          <a:xfrm>
            <a:off x="5870717" y="1973727"/>
            <a:ext cx="856915" cy="603811"/>
          </a:xfrm>
          <a:prstGeom prst="rect">
            <a:avLst/>
          </a:prstGeom>
        </p:spPr>
        <p:txBody>
          <a:bodyPr vert="horz" lIns="121920" tIns="60960" rIns="121920" bIns="60960" rtlCol="0" anchor="t">
            <a:norm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BUT</a:t>
            </a:r>
            <a:endParaRPr lang="en-US" sz="2000" b="1"/>
          </a:p>
          <a:p>
            <a:pPr marL="609585" indent="-609585"/>
            <a:endParaRPr lang="en-US"/>
          </a:p>
        </p:txBody>
      </p:sp>
      <p:sp>
        <p:nvSpPr>
          <p:cNvPr id="8" name="Text Placeholder 2">
            <a:extLst>
              <a:ext uri="{FF2B5EF4-FFF2-40B4-BE49-F238E27FC236}">
                <a16:creationId xmlns:a16="http://schemas.microsoft.com/office/drawing/2014/main" id="{26FF6EB6-EF75-50B3-F6C5-4EA6E288B037}"/>
              </a:ext>
            </a:extLst>
          </p:cNvPr>
          <p:cNvSpPr txBox="1">
            <a:spLocks/>
          </p:cNvSpPr>
          <p:nvPr/>
        </p:nvSpPr>
        <p:spPr>
          <a:xfrm>
            <a:off x="7139785" y="1553886"/>
            <a:ext cx="4421817" cy="1318557"/>
          </a:xfrm>
          <a:prstGeom prst="rect">
            <a:avLst/>
          </a:prstGeom>
        </p:spPr>
        <p:txBody>
          <a:bodyPr vert="horz" lIns="121920" tIns="60960" rIns="121920" bIns="60960" rtlCol="0" anchor="t">
            <a:norm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High computational time</a:t>
            </a:r>
          </a:p>
          <a:p>
            <a:pPr>
              <a:buFont typeface="Wingdings" panose="05000000000000000000" pitchFamily="2" charset="2"/>
              <a:buChar char="Ø"/>
            </a:pPr>
            <a:r>
              <a:rPr lang="en-US" sz="2000">
                <a:latin typeface="Arial"/>
                <a:cs typeface="Arial"/>
              </a:rPr>
              <a:t>Low precision</a:t>
            </a:r>
          </a:p>
          <a:p>
            <a:pPr>
              <a:buFont typeface="Wingdings" panose="05000000000000000000" pitchFamily="2" charset="2"/>
              <a:buChar char="Ø"/>
            </a:pPr>
            <a:r>
              <a:rPr lang="en-US" sz="2000">
                <a:latin typeface="Arial"/>
                <a:cs typeface="Arial"/>
              </a:rPr>
              <a:t> Need a calibration step</a:t>
            </a:r>
          </a:p>
          <a:p>
            <a:pPr>
              <a:buFont typeface="Wingdings" panose="05000000000000000000" pitchFamily="2" charset="2"/>
              <a:buChar char="Ø"/>
            </a:pPr>
            <a:endParaRPr lang="en-US" sz="2000"/>
          </a:p>
          <a:p>
            <a:pPr marL="609585" indent="-609585"/>
            <a:endParaRPr lang="en-US" sz="2000">
              <a:latin typeface="Arial"/>
              <a:cs typeface="Arial"/>
            </a:endParaRPr>
          </a:p>
        </p:txBody>
      </p:sp>
      <p:sp>
        <p:nvSpPr>
          <p:cNvPr id="10" name="Text Placeholder 2">
            <a:extLst>
              <a:ext uri="{FF2B5EF4-FFF2-40B4-BE49-F238E27FC236}">
                <a16:creationId xmlns:a16="http://schemas.microsoft.com/office/drawing/2014/main" id="{B05AF384-DE20-0475-378A-76B9D0C63EB7}"/>
              </a:ext>
            </a:extLst>
          </p:cNvPr>
          <p:cNvSpPr txBox="1">
            <a:spLocks/>
          </p:cNvSpPr>
          <p:nvPr/>
        </p:nvSpPr>
        <p:spPr>
          <a:xfrm>
            <a:off x="6711327" y="1116062"/>
            <a:ext cx="3569056" cy="603811"/>
          </a:xfrm>
          <a:prstGeom prst="rect">
            <a:avLst/>
          </a:prstGeom>
        </p:spPr>
        <p:txBody>
          <a:bodyPr vert="horz" lIns="121920" tIns="60960" rIns="121920" bIns="60960" rtlCol="0" anchor="t">
            <a:norm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Negative aspect:</a:t>
            </a:r>
            <a:endParaRPr lang="en-US" sz="2000" b="1"/>
          </a:p>
          <a:p>
            <a:pPr marL="609585" indent="-609585"/>
            <a:endParaRPr lang="en-US" sz="2000">
              <a:latin typeface="Arial"/>
              <a:cs typeface="Arial"/>
            </a:endParaRPr>
          </a:p>
        </p:txBody>
      </p:sp>
    </p:spTree>
    <p:extLst>
      <p:ext uri="{BB962C8B-B14F-4D97-AF65-F5344CB8AC3E}">
        <p14:creationId xmlns:p14="http://schemas.microsoft.com/office/powerpoint/2010/main" val="390738083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77406" y="110531"/>
            <a:ext cx="11630733" cy="603981"/>
          </a:xfrm>
        </p:spPr>
        <p:txBody>
          <a:bodyPr vert="horz" lIns="121920" tIns="60960" rIns="121920" bIns="60960" rtlCol="0" anchor="t">
            <a:noAutofit/>
          </a:bodyPr>
          <a:lstStyle/>
          <a:p>
            <a:r>
              <a:rPr lang="en-US" sz="4400"/>
              <a:t>2.1 Calibration step:</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8</a:t>
            </a:fld>
            <a:endParaRPr lang="en-US"/>
          </a:p>
        </p:txBody>
      </p:sp>
      <p:pic>
        <p:nvPicPr>
          <p:cNvPr id="17" name="Picture 16" descr="A math equations on a white background&#10;&#10;Description automatically generated">
            <a:extLst>
              <a:ext uri="{FF2B5EF4-FFF2-40B4-BE49-F238E27FC236}">
                <a16:creationId xmlns:a16="http://schemas.microsoft.com/office/drawing/2014/main" id="{689820EE-559E-6018-6F8D-EC4B8BDCA4B8}"/>
              </a:ext>
            </a:extLst>
          </p:cNvPr>
          <p:cNvPicPr>
            <a:picLocks noChangeAspect="1"/>
          </p:cNvPicPr>
          <p:nvPr/>
        </p:nvPicPr>
        <p:blipFill>
          <a:blip r:embed="rId3"/>
          <a:stretch>
            <a:fillRect/>
          </a:stretch>
        </p:blipFill>
        <p:spPr>
          <a:xfrm>
            <a:off x="9010498" y="4443717"/>
            <a:ext cx="2875109" cy="1274896"/>
          </a:xfrm>
          <a:prstGeom prst="rect">
            <a:avLst/>
          </a:prstGeom>
        </p:spPr>
      </p:pic>
      <p:pic>
        <p:nvPicPr>
          <p:cNvPr id="6" name="Picture 5" descr="A graph with colored lines and numbers&#10;&#10;Description automatically generated">
            <a:extLst>
              <a:ext uri="{FF2B5EF4-FFF2-40B4-BE49-F238E27FC236}">
                <a16:creationId xmlns:a16="http://schemas.microsoft.com/office/drawing/2014/main" id="{4681FB80-46E2-76AE-1928-1FC462E579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393" y="3822154"/>
            <a:ext cx="8526637" cy="2518023"/>
          </a:xfrm>
          <a:prstGeom prst="rect">
            <a:avLst/>
          </a:prstGeom>
        </p:spPr>
      </p:pic>
      <p:pic>
        <p:nvPicPr>
          <p:cNvPr id="33" name="Picture 32" descr="A person standing in a room with a person in the background&#10;&#10;Description automatically generated">
            <a:extLst>
              <a:ext uri="{FF2B5EF4-FFF2-40B4-BE49-F238E27FC236}">
                <a16:creationId xmlns:a16="http://schemas.microsoft.com/office/drawing/2014/main" id="{EA3F9B04-4B37-2440-5C7C-474224D354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9940" y="2154210"/>
            <a:ext cx="2361524" cy="1180762"/>
          </a:xfrm>
          <a:prstGeom prst="rect">
            <a:avLst/>
          </a:prstGeom>
        </p:spPr>
      </p:pic>
      <p:pic>
        <p:nvPicPr>
          <p:cNvPr id="40" name="Picture 39" descr="A person standing in a room&#10;&#10;Description automatically generated">
            <a:extLst>
              <a:ext uri="{FF2B5EF4-FFF2-40B4-BE49-F238E27FC236}">
                <a16:creationId xmlns:a16="http://schemas.microsoft.com/office/drawing/2014/main" id="{F4B8CFF3-B427-F29F-14FB-6725FAB713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1464" y="204645"/>
            <a:ext cx="2361524" cy="1180762"/>
          </a:xfrm>
          <a:prstGeom prst="rect">
            <a:avLst/>
          </a:prstGeom>
        </p:spPr>
      </p:pic>
      <p:pic>
        <p:nvPicPr>
          <p:cNvPr id="42" name="Picture 41" descr="A room with a few people&#10;&#10;Description automatically generated with medium confidence">
            <a:extLst>
              <a:ext uri="{FF2B5EF4-FFF2-40B4-BE49-F238E27FC236}">
                <a16:creationId xmlns:a16="http://schemas.microsoft.com/office/drawing/2014/main" id="{2E74179F-5C0B-3245-C4FB-56F65AEFD9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51464" y="2719658"/>
            <a:ext cx="2361524" cy="1180762"/>
          </a:xfrm>
          <a:prstGeom prst="rect">
            <a:avLst/>
          </a:prstGeom>
        </p:spPr>
      </p:pic>
      <p:pic>
        <p:nvPicPr>
          <p:cNvPr id="43" name="Picture 42" descr="A room with a few people&#10;&#10;Description automatically generated with medium confidence">
            <a:extLst>
              <a:ext uri="{FF2B5EF4-FFF2-40B4-BE49-F238E27FC236}">
                <a16:creationId xmlns:a16="http://schemas.microsoft.com/office/drawing/2014/main" id="{1C1F77FF-523E-10D1-2B1C-4F8ED2E54EC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51464" y="1401808"/>
            <a:ext cx="2361524" cy="1180762"/>
          </a:xfrm>
          <a:prstGeom prst="rect">
            <a:avLst/>
          </a:prstGeom>
        </p:spPr>
      </p:pic>
      <p:sp>
        <p:nvSpPr>
          <p:cNvPr id="45" name="Text Placeholder 2">
            <a:extLst>
              <a:ext uri="{FF2B5EF4-FFF2-40B4-BE49-F238E27FC236}">
                <a16:creationId xmlns:a16="http://schemas.microsoft.com/office/drawing/2014/main" id="{E48A6A23-BCAB-F417-BD7F-BD2764FBEE61}"/>
              </a:ext>
            </a:extLst>
          </p:cNvPr>
          <p:cNvSpPr txBox="1">
            <a:spLocks/>
          </p:cNvSpPr>
          <p:nvPr/>
        </p:nvSpPr>
        <p:spPr>
          <a:xfrm>
            <a:off x="620708" y="1670681"/>
            <a:ext cx="7395949" cy="1318557"/>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Placed a physical reference 30 cm away</a:t>
            </a:r>
          </a:p>
          <a:p>
            <a:pPr>
              <a:buFont typeface="Wingdings" panose="05000000000000000000" pitchFamily="2" charset="2"/>
              <a:buChar char="Ø"/>
            </a:pPr>
            <a:r>
              <a:rPr lang="en-US" sz="2000">
                <a:latin typeface="Arial"/>
                <a:cs typeface="Arial"/>
              </a:rPr>
              <a:t> Used labeled images</a:t>
            </a:r>
          </a:p>
          <a:p>
            <a:pPr>
              <a:buFont typeface="Wingdings" panose="05000000000000000000" pitchFamily="2" charset="2"/>
              <a:buChar char="Ø"/>
            </a:pPr>
            <a:r>
              <a:rPr lang="en-US" sz="2000">
                <a:latin typeface="Arial"/>
                <a:cs typeface="Arial"/>
              </a:rPr>
              <a:t> Plot all the points</a:t>
            </a:r>
          </a:p>
          <a:p>
            <a:pPr>
              <a:buFont typeface="Wingdings" panose="05000000000000000000" pitchFamily="2" charset="2"/>
              <a:buChar char="Ø"/>
            </a:pPr>
            <a:r>
              <a:rPr lang="en-US" sz="2000">
                <a:latin typeface="Arial"/>
                <a:cs typeface="Arial"/>
              </a:rPr>
              <a:t> Find the best fitting curve</a:t>
            </a:r>
          </a:p>
          <a:p>
            <a:pPr marL="0" indent="0">
              <a:buFont typeface="Arial" panose="020B0604020202020204" pitchFamily="34" charset="0"/>
              <a:buNone/>
            </a:pPr>
            <a:endParaRPr lang="en-US" sz="2000"/>
          </a:p>
          <a:p>
            <a:pPr marL="609585" indent="-609585"/>
            <a:endParaRPr lang="en-US" sz="2000">
              <a:latin typeface="Arial"/>
              <a:cs typeface="Arial"/>
            </a:endParaRPr>
          </a:p>
        </p:txBody>
      </p:sp>
      <p:sp>
        <p:nvSpPr>
          <p:cNvPr id="46" name="Text Placeholder 2">
            <a:extLst>
              <a:ext uri="{FF2B5EF4-FFF2-40B4-BE49-F238E27FC236}">
                <a16:creationId xmlns:a16="http://schemas.microsoft.com/office/drawing/2014/main" id="{6227FCBC-C1D3-4D9E-FAEB-81D89E771715}"/>
              </a:ext>
            </a:extLst>
          </p:cNvPr>
          <p:cNvSpPr>
            <a:spLocks noGrp="1"/>
          </p:cNvSpPr>
          <p:nvPr>
            <p:ph type="body" sz="quarter" idx="10"/>
          </p:nvPr>
        </p:nvSpPr>
        <p:spPr>
          <a:xfrm>
            <a:off x="304256" y="1118760"/>
            <a:ext cx="6660215" cy="398181"/>
          </a:xfrm>
        </p:spPr>
        <p:txBody>
          <a:bodyPr vert="horz" lIns="121920" tIns="60960" rIns="121920" bIns="60960" rtlCol="0" anchor="t">
            <a:noAutofit/>
          </a:bodyPr>
          <a:lstStyle/>
          <a:p>
            <a:pPr marL="0" indent="0">
              <a:buNone/>
            </a:pPr>
            <a:r>
              <a:rPr lang="en-US" sz="2000" b="1">
                <a:latin typeface="Arial"/>
                <a:cs typeface="Arial"/>
              </a:rPr>
              <a:t>Goal</a:t>
            </a:r>
            <a:r>
              <a:rPr lang="en-US" sz="2000">
                <a:latin typeface="Arial"/>
                <a:cs typeface="Arial"/>
              </a:rPr>
              <a:t> : Find the relation between pixel value and depth</a:t>
            </a:r>
            <a:endParaRPr lang="en-US" sz="2000"/>
          </a:p>
        </p:txBody>
      </p:sp>
      <p:pic>
        <p:nvPicPr>
          <p:cNvPr id="48" name="Picture 47" descr="A person with a white shirt and a black and white photo&#10;&#10;Description automatically generated">
            <a:extLst>
              <a:ext uri="{FF2B5EF4-FFF2-40B4-BE49-F238E27FC236}">
                <a16:creationId xmlns:a16="http://schemas.microsoft.com/office/drawing/2014/main" id="{3AA67604-22DE-1BE7-A1DC-7E7A5956738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89940" y="957047"/>
            <a:ext cx="2361524" cy="1180762"/>
          </a:xfrm>
          <a:prstGeom prst="rect">
            <a:avLst/>
          </a:prstGeom>
        </p:spPr>
      </p:pic>
      <p:pic>
        <p:nvPicPr>
          <p:cNvPr id="49" name="Picture 48" descr="A room with a few people&#10;&#10;Description automatically generated with medium confidence">
            <a:extLst>
              <a:ext uri="{FF2B5EF4-FFF2-40B4-BE49-F238E27FC236}">
                <a16:creationId xmlns:a16="http://schemas.microsoft.com/office/drawing/2014/main" id="{8190365C-D139-41F1-0543-55744D32979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51464" y="1516941"/>
            <a:ext cx="2361524" cy="1180762"/>
          </a:xfrm>
          <a:prstGeom prst="rect">
            <a:avLst/>
          </a:prstGeom>
        </p:spPr>
      </p:pic>
    </p:spTree>
    <p:extLst>
      <p:ext uri="{BB962C8B-B14F-4D97-AF65-F5344CB8AC3E}">
        <p14:creationId xmlns:p14="http://schemas.microsoft.com/office/powerpoint/2010/main" val="112207655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77406" y="110531"/>
            <a:ext cx="11630733" cy="603981"/>
          </a:xfrm>
        </p:spPr>
        <p:txBody>
          <a:bodyPr vert="horz" lIns="121920" tIns="60960" rIns="121920" bIns="60960" rtlCol="0" anchor="t">
            <a:noAutofit/>
          </a:bodyPr>
          <a:lstStyle/>
          <a:p>
            <a:r>
              <a:rPr lang="en-US" sz="4400"/>
              <a:t>2.2 Depth Calculation:</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9</a:t>
            </a:fld>
            <a:endParaRPr lang="en-US"/>
          </a:p>
        </p:txBody>
      </p:sp>
      <p:pic>
        <p:nvPicPr>
          <p:cNvPr id="17" name="Picture 16" descr="A math equations on a white background&#10;&#10;Description automatically generated">
            <a:extLst>
              <a:ext uri="{FF2B5EF4-FFF2-40B4-BE49-F238E27FC236}">
                <a16:creationId xmlns:a16="http://schemas.microsoft.com/office/drawing/2014/main" id="{689820EE-559E-6018-6F8D-EC4B8BDCA4B8}"/>
              </a:ext>
            </a:extLst>
          </p:cNvPr>
          <p:cNvPicPr>
            <a:picLocks noChangeAspect="1"/>
          </p:cNvPicPr>
          <p:nvPr/>
        </p:nvPicPr>
        <p:blipFill>
          <a:blip r:embed="rId3"/>
          <a:stretch>
            <a:fillRect/>
          </a:stretch>
        </p:blipFill>
        <p:spPr>
          <a:xfrm>
            <a:off x="9010498" y="4443717"/>
            <a:ext cx="2875109" cy="1274896"/>
          </a:xfrm>
          <a:prstGeom prst="rect">
            <a:avLst/>
          </a:prstGeom>
        </p:spPr>
      </p:pic>
      <p:pic>
        <p:nvPicPr>
          <p:cNvPr id="6" name="Picture 5" descr="A graph with colored lines and numbers&#10;&#10;Description automatically generated">
            <a:extLst>
              <a:ext uri="{FF2B5EF4-FFF2-40B4-BE49-F238E27FC236}">
                <a16:creationId xmlns:a16="http://schemas.microsoft.com/office/drawing/2014/main" id="{4681FB80-46E2-76AE-1928-1FC462E579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116" y="4197292"/>
            <a:ext cx="8526637" cy="2518023"/>
          </a:xfrm>
          <a:prstGeom prst="rect">
            <a:avLst/>
          </a:prstGeom>
        </p:spPr>
      </p:pic>
      <p:sp>
        <p:nvSpPr>
          <p:cNvPr id="45" name="Text Placeholder 2">
            <a:extLst>
              <a:ext uri="{FF2B5EF4-FFF2-40B4-BE49-F238E27FC236}">
                <a16:creationId xmlns:a16="http://schemas.microsoft.com/office/drawing/2014/main" id="{E48A6A23-BCAB-F417-BD7F-BD2764FBEE61}"/>
              </a:ext>
            </a:extLst>
          </p:cNvPr>
          <p:cNvSpPr txBox="1">
            <a:spLocks/>
          </p:cNvSpPr>
          <p:nvPr/>
        </p:nvSpPr>
        <p:spPr>
          <a:xfrm>
            <a:off x="620708" y="1705850"/>
            <a:ext cx="5274072" cy="250576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9860" indent="-149860">
              <a:buFont typeface="Wingdings" panose="05000000000000000000" pitchFamily="2" charset="2"/>
              <a:buChar char="Ø"/>
            </a:pPr>
            <a:r>
              <a:rPr lang="en-US" sz="2000">
                <a:latin typeface="Arial"/>
                <a:cs typeface="Arial"/>
              </a:rPr>
              <a:t> Use the Yolov5 model to detect people</a:t>
            </a:r>
          </a:p>
          <a:p>
            <a:pPr marL="149860" indent="-149860">
              <a:buFont typeface="Wingdings" panose="05000000000000000000" pitchFamily="2" charset="2"/>
              <a:buChar char="Ø"/>
            </a:pPr>
            <a:r>
              <a:rPr lang="en-US" sz="2000">
                <a:latin typeface="Arial"/>
                <a:cs typeface="Arial"/>
              </a:rPr>
              <a:t> Remove the background </a:t>
            </a:r>
          </a:p>
          <a:p>
            <a:pPr marL="149860" indent="-149860">
              <a:buFont typeface="Wingdings" panose="05000000000000000000" pitchFamily="2" charset="2"/>
              <a:buChar char="Ø"/>
            </a:pPr>
            <a:r>
              <a:rPr lang="en-US" sz="2000">
                <a:latin typeface="Arial"/>
                <a:cs typeface="Arial"/>
              </a:rPr>
              <a:t> Do the mean of pixel value</a:t>
            </a:r>
          </a:p>
          <a:p>
            <a:pPr marL="532765" lvl="1" indent="-149860">
              <a:buFont typeface="Courier New" panose="05000000000000000000" pitchFamily="2" charset="2"/>
              <a:buChar char="o"/>
            </a:pPr>
            <a:r>
              <a:rPr lang="en-US" sz="2000">
                <a:latin typeface="Arial"/>
                <a:cs typeface="Arial"/>
              </a:rPr>
              <a:t>After this step, we are able to mark red dot at center of person to mark their x, y pixel values for top down map</a:t>
            </a:r>
          </a:p>
          <a:p>
            <a:pPr marL="149860" indent="-149860">
              <a:buFont typeface="Wingdings" panose="05000000000000000000" pitchFamily="2" charset="2"/>
              <a:buChar char="Ø"/>
            </a:pPr>
            <a:r>
              <a:rPr lang="en-US" sz="2000">
                <a:latin typeface="Arial"/>
                <a:cs typeface="Arial"/>
              </a:rPr>
              <a:t> Find the depth with the curve</a:t>
            </a:r>
          </a:p>
          <a:p>
            <a:pPr marL="0" indent="0">
              <a:buFont typeface="Arial" panose="020B0604020202020204" pitchFamily="34" charset="0"/>
              <a:buNone/>
            </a:pPr>
            <a:endParaRPr lang="en-US" sz="2000"/>
          </a:p>
          <a:p>
            <a:pPr marL="608965" indent="-608965"/>
            <a:endParaRPr lang="en-US" sz="2000">
              <a:latin typeface="Arial"/>
              <a:cs typeface="Arial"/>
            </a:endParaRPr>
          </a:p>
        </p:txBody>
      </p:sp>
      <p:sp>
        <p:nvSpPr>
          <p:cNvPr id="46" name="Text Placeholder 2">
            <a:extLst>
              <a:ext uri="{FF2B5EF4-FFF2-40B4-BE49-F238E27FC236}">
                <a16:creationId xmlns:a16="http://schemas.microsoft.com/office/drawing/2014/main" id="{6227FCBC-C1D3-4D9E-FAEB-81D89E771715}"/>
              </a:ext>
            </a:extLst>
          </p:cNvPr>
          <p:cNvSpPr>
            <a:spLocks noGrp="1"/>
          </p:cNvSpPr>
          <p:nvPr>
            <p:ph type="body" sz="quarter" idx="10"/>
          </p:nvPr>
        </p:nvSpPr>
        <p:spPr>
          <a:xfrm>
            <a:off x="304256" y="1118760"/>
            <a:ext cx="6660215" cy="398181"/>
          </a:xfrm>
        </p:spPr>
        <p:txBody>
          <a:bodyPr vert="horz" lIns="121920" tIns="60960" rIns="121920" bIns="60960" rtlCol="0" anchor="t">
            <a:noAutofit/>
          </a:bodyPr>
          <a:lstStyle/>
          <a:p>
            <a:pPr marL="0" indent="0">
              <a:buNone/>
            </a:pPr>
            <a:r>
              <a:rPr lang="en-US" sz="2000" b="1">
                <a:latin typeface="Arial"/>
                <a:cs typeface="Arial"/>
              </a:rPr>
              <a:t>Goal</a:t>
            </a:r>
            <a:r>
              <a:rPr lang="en-US" sz="2000">
                <a:latin typeface="Arial"/>
                <a:cs typeface="Arial"/>
              </a:rPr>
              <a:t> : Find the depth of every person in the image</a:t>
            </a:r>
            <a:endParaRPr lang="en-US" sz="2000"/>
          </a:p>
        </p:txBody>
      </p:sp>
      <p:pic>
        <p:nvPicPr>
          <p:cNvPr id="3" name="Picture 2">
            <a:extLst>
              <a:ext uri="{FF2B5EF4-FFF2-40B4-BE49-F238E27FC236}">
                <a16:creationId xmlns:a16="http://schemas.microsoft.com/office/drawing/2014/main" id="{DA8F76FF-AAFC-9F14-C6B5-2F96E4635925}"/>
              </a:ext>
            </a:extLst>
          </p:cNvPr>
          <p:cNvPicPr>
            <a:picLocks noChangeAspect="1"/>
          </p:cNvPicPr>
          <p:nvPr/>
        </p:nvPicPr>
        <p:blipFill rotWithShape="1">
          <a:blip r:embed="rId5">
            <a:extLst>
              <a:ext uri="{28A0092B-C50C-407E-A947-70E740481C1C}">
                <a14:useLocalDpi xmlns:a14="http://schemas.microsoft.com/office/drawing/2010/main" val="0"/>
              </a:ext>
            </a:extLst>
          </a:blip>
          <a:srcRect l="2191" t="6407" r="1753" b="2190"/>
          <a:stretch/>
        </p:blipFill>
        <p:spPr>
          <a:xfrm>
            <a:off x="9355525" y="795627"/>
            <a:ext cx="2530082" cy="2522672"/>
          </a:xfrm>
          <a:prstGeom prst="rect">
            <a:avLst/>
          </a:prstGeom>
        </p:spPr>
      </p:pic>
      <p:pic>
        <p:nvPicPr>
          <p:cNvPr id="5" name="Picture 4">
            <a:extLst>
              <a:ext uri="{FF2B5EF4-FFF2-40B4-BE49-F238E27FC236}">
                <a16:creationId xmlns:a16="http://schemas.microsoft.com/office/drawing/2014/main" id="{F382F99B-52D1-A447-DBFA-CCDCCD11992E}"/>
              </a:ext>
            </a:extLst>
          </p:cNvPr>
          <p:cNvPicPr>
            <a:picLocks noChangeAspect="1"/>
          </p:cNvPicPr>
          <p:nvPr/>
        </p:nvPicPr>
        <p:blipFill rotWithShape="1">
          <a:blip r:embed="rId6">
            <a:extLst>
              <a:ext uri="{28A0092B-C50C-407E-A947-70E740481C1C}">
                <a14:useLocalDpi xmlns:a14="http://schemas.microsoft.com/office/drawing/2010/main" val="0"/>
              </a:ext>
            </a:extLst>
          </a:blip>
          <a:srcRect l="2455" t="6488" r="2017" b="2092"/>
          <a:stretch/>
        </p:blipFill>
        <p:spPr>
          <a:xfrm>
            <a:off x="6306943" y="795627"/>
            <a:ext cx="2530081" cy="2537051"/>
          </a:xfrm>
          <a:prstGeom prst="rect">
            <a:avLst/>
          </a:prstGeom>
        </p:spPr>
      </p:pic>
      <p:sp>
        <p:nvSpPr>
          <p:cNvPr id="7" name="Rectangle 6">
            <a:extLst>
              <a:ext uri="{FF2B5EF4-FFF2-40B4-BE49-F238E27FC236}">
                <a16:creationId xmlns:a16="http://schemas.microsoft.com/office/drawing/2014/main" id="{AD9894D1-E205-8D15-7D57-0F32D5DD3CC7}"/>
              </a:ext>
            </a:extLst>
          </p:cNvPr>
          <p:cNvSpPr/>
          <p:nvPr/>
        </p:nvSpPr>
        <p:spPr>
          <a:xfrm>
            <a:off x="9800167" y="1641047"/>
            <a:ext cx="419100" cy="1144486"/>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15209AA-846B-B25D-BEBA-B166B513C5B2}"/>
              </a:ext>
            </a:extLst>
          </p:cNvPr>
          <p:cNvSpPr/>
          <p:nvPr/>
        </p:nvSpPr>
        <p:spPr>
          <a:xfrm>
            <a:off x="11053235" y="1641047"/>
            <a:ext cx="402165" cy="1248834"/>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81B24736-8EE2-3E57-AE52-1243CBB733D8}"/>
              </a:ext>
            </a:extLst>
          </p:cNvPr>
          <p:cNvSpPr/>
          <p:nvPr/>
        </p:nvSpPr>
        <p:spPr>
          <a:xfrm>
            <a:off x="10492318" y="1755347"/>
            <a:ext cx="287866" cy="1020234"/>
          </a:xfrm>
          <a:prstGeom prst="rect">
            <a:avLst/>
          </a:prstGeom>
          <a:no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56A26F24-4014-896E-8C52-3787603B84B8}"/>
              </a:ext>
            </a:extLst>
          </p:cNvPr>
          <p:cNvSpPr txBox="1"/>
          <p:nvPr/>
        </p:nvSpPr>
        <p:spPr>
          <a:xfrm>
            <a:off x="9850967" y="1317850"/>
            <a:ext cx="279400" cy="369332"/>
          </a:xfrm>
          <a:prstGeom prst="rect">
            <a:avLst/>
          </a:prstGeom>
          <a:noFill/>
        </p:spPr>
        <p:txBody>
          <a:bodyPr wrap="square" rtlCol="0">
            <a:spAutoFit/>
          </a:bodyPr>
          <a:lstStyle/>
          <a:p>
            <a:r>
              <a:rPr lang="en-US">
                <a:solidFill>
                  <a:srgbClr val="FF0000"/>
                </a:solidFill>
              </a:rPr>
              <a:t>1</a:t>
            </a:r>
          </a:p>
        </p:txBody>
      </p:sp>
      <p:sp>
        <p:nvSpPr>
          <p:cNvPr id="11" name="TextBox 10">
            <a:extLst>
              <a:ext uri="{FF2B5EF4-FFF2-40B4-BE49-F238E27FC236}">
                <a16:creationId xmlns:a16="http://schemas.microsoft.com/office/drawing/2014/main" id="{52B72391-EF6D-C499-C0AF-2938564F4B80}"/>
              </a:ext>
            </a:extLst>
          </p:cNvPr>
          <p:cNvSpPr txBox="1"/>
          <p:nvPr/>
        </p:nvSpPr>
        <p:spPr>
          <a:xfrm>
            <a:off x="10974917" y="1332275"/>
            <a:ext cx="279400" cy="369332"/>
          </a:xfrm>
          <a:prstGeom prst="rect">
            <a:avLst/>
          </a:prstGeom>
          <a:noFill/>
        </p:spPr>
        <p:txBody>
          <a:bodyPr wrap="square" rtlCol="0">
            <a:spAutoFit/>
          </a:bodyPr>
          <a:lstStyle/>
          <a:p>
            <a:r>
              <a:rPr lang="en-US">
                <a:solidFill>
                  <a:srgbClr val="FF0000"/>
                </a:solidFill>
              </a:rPr>
              <a:t>2</a:t>
            </a:r>
          </a:p>
        </p:txBody>
      </p:sp>
      <p:sp>
        <p:nvSpPr>
          <p:cNvPr id="12" name="TextBox 11">
            <a:extLst>
              <a:ext uri="{FF2B5EF4-FFF2-40B4-BE49-F238E27FC236}">
                <a16:creationId xmlns:a16="http://schemas.microsoft.com/office/drawing/2014/main" id="{8537DB77-AEF3-7425-6955-72EC71AB67B0}"/>
              </a:ext>
            </a:extLst>
          </p:cNvPr>
          <p:cNvSpPr txBox="1"/>
          <p:nvPr/>
        </p:nvSpPr>
        <p:spPr>
          <a:xfrm>
            <a:off x="10492318" y="1456381"/>
            <a:ext cx="279400" cy="369332"/>
          </a:xfrm>
          <a:prstGeom prst="rect">
            <a:avLst/>
          </a:prstGeom>
          <a:noFill/>
        </p:spPr>
        <p:txBody>
          <a:bodyPr wrap="square" rtlCol="0">
            <a:spAutoFit/>
          </a:bodyPr>
          <a:lstStyle/>
          <a:p>
            <a:r>
              <a:rPr lang="en-US">
                <a:solidFill>
                  <a:srgbClr val="FF0000"/>
                </a:solidFill>
              </a:rPr>
              <a:t>3</a:t>
            </a:r>
          </a:p>
        </p:txBody>
      </p:sp>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6CCD30-E21D-FE33-29FF-15A017BC8F9A}"/>
                  </a:ext>
                </a:extLst>
              </p14:cNvPr>
              <p14:cNvContentPartPr/>
              <p14:nvPr/>
            </p14:nvContentPartPr>
            <p14:xfrm>
              <a:off x="6162200" y="5080720"/>
              <a:ext cx="1076760" cy="360"/>
            </p14:xfrm>
          </p:contentPart>
        </mc:Choice>
        <mc:Fallback xmlns="">
          <p:pic>
            <p:nvPicPr>
              <p:cNvPr id="13" name="Ink 12">
                <a:extLst>
                  <a:ext uri="{FF2B5EF4-FFF2-40B4-BE49-F238E27FC236}">
                    <a16:creationId xmlns:a16="http://schemas.microsoft.com/office/drawing/2014/main" id="{D06CCD30-E21D-FE33-29FF-15A017BC8F9A}"/>
                  </a:ext>
                </a:extLst>
              </p:cNvPr>
              <p:cNvPicPr/>
              <p:nvPr/>
            </p:nvPicPr>
            <p:blipFill>
              <a:blip r:embed="rId8"/>
              <a:stretch>
                <a:fillRect/>
              </a:stretch>
            </p:blipFill>
            <p:spPr>
              <a:xfrm>
                <a:off x="6156078" y="5074600"/>
                <a:ext cx="1089004"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7A5C73AE-ACAA-DF20-AB65-3472B2E08549}"/>
                  </a:ext>
                </a:extLst>
              </p14:cNvPr>
              <p14:cNvContentPartPr/>
              <p14:nvPr/>
            </p14:nvContentPartPr>
            <p14:xfrm>
              <a:off x="6151760" y="5314360"/>
              <a:ext cx="1408320" cy="360"/>
            </p14:xfrm>
          </p:contentPart>
        </mc:Choice>
        <mc:Fallback xmlns="">
          <p:pic>
            <p:nvPicPr>
              <p:cNvPr id="15" name="Ink 14">
                <a:extLst>
                  <a:ext uri="{FF2B5EF4-FFF2-40B4-BE49-F238E27FC236}">
                    <a16:creationId xmlns:a16="http://schemas.microsoft.com/office/drawing/2014/main" id="{7A5C73AE-ACAA-DF20-AB65-3472B2E08549}"/>
                  </a:ext>
                </a:extLst>
              </p:cNvPr>
              <p:cNvPicPr/>
              <p:nvPr/>
            </p:nvPicPr>
            <p:blipFill>
              <a:blip r:embed="rId10"/>
              <a:stretch>
                <a:fillRect/>
              </a:stretch>
            </p:blipFill>
            <p:spPr>
              <a:xfrm>
                <a:off x="6145640" y="5308240"/>
                <a:ext cx="14205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84E38617-63D8-F33C-2061-F6FD1F1BD23F}"/>
                  </a:ext>
                </a:extLst>
              </p14:cNvPr>
              <p14:cNvContentPartPr/>
              <p14:nvPr/>
            </p14:nvContentPartPr>
            <p14:xfrm>
              <a:off x="6141680" y="5045080"/>
              <a:ext cx="1075320" cy="360"/>
            </p14:xfrm>
          </p:contentPart>
        </mc:Choice>
        <mc:Fallback xmlns="">
          <p:pic>
            <p:nvPicPr>
              <p:cNvPr id="16" name="Ink 15">
                <a:extLst>
                  <a:ext uri="{FF2B5EF4-FFF2-40B4-BE49-F238E27FC236}">
                    <a16:creationId xmlns:a16="http://schemas.microsoft.com/office/drawing/2014/main" id="{84E38617-63D8-F33C-2061-F6FD1F1BD23F}"/>
                  </a:ext>
                </a:extLst>
              </p:cNvPr>
              <p:cNvPicPr/>
              <p:nvPr/>
            </p:nvPicPr>
            <p:blipFill>
              <a:blip r:embed="rId12"/>
              <a:stretch>
                <a:fillRect/>
              </a:stretch>
            </p:blipFill>
            <p:spPr>
              <a:xfrm>
                <a:off x="6135562" y="5038960"/>
                <a:ext cx="1087556"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55DFB05A-895F-5D0A-DD68-E894A139F145}"/>
                  </a:ext>
                </a:extLst>
              </p14:cNvPr>
              <p14:cNvContentPartPr/>
              <p14:nvPr/>
            </p14:nvContentPartPr>
            <p14:xfrm>
              <a:off x="7164800" y="4988560"/>
              <a:ext cx="360" cy="1152720"/>
            </p14:xfrm>
          </p:contentPart>
        </mc:Choice>
        <mc:Fallback xmlns="">
          <p:pic>
            <p:nvPicPr>
              <p:cNvPr id="18" name="Ink 17">
                <a:extLst>
                  <a:ext uri="{FF2B5EF4-FFF2-40B4-BE49-F238E27FC236}">
                    <a16:creationId xmlns:a16="http://schemas.microsoft.com/office/drawing/2014/main" id="{55DFB05A-895F-5D0A-DD68-E894A139F145}"/>
                  </a:ext>
                </a:extLst>
              </p:cNvPr>
              <p:cNvPicPr/>
              <p:nvPr/>
            </p:nvPicPr>
            <p:blipFill>
              <a:blip r:embed="rId14"/>
              <a:stretch>
                <a:fillRect/>
              </a:stretch>
            </p:blipFill>
            <p:spPr>
              <a:xfrm>
                <a:off x="7158680" y="4982440"/>
                <a:ext cx="12600" cy="1164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8EEBE4E0-5DC6-52FA-3CF6-C63974BE1001}"/>
                  </a:ext>
                </a:extLst>
              </p14:cNvPr>
              <p14:cNvContentPartPr/>
              <p14:nvPr/>
            </p14:nvContentPartPr>
            <p14:xfrm>
              <a:off x="7210520" y="5064520"/>
              <a:ext cx="360" cy="1108080"/>
            </p14:xfrm>
          </p:contentPart>
        </mc:Choice>
        <mc:Fallback xmlns="">
          <p:pic>
            <p:nvPicPr>
              <p:cNvPr id="19" name="Ink 18">
                <a:extLst>
                  <a:ext uri="{FF2B5EF4-FFF2-40B4-BE49-F238E27FC236}">
                    <a16:creationId xmlns:a16="http://schemas.microsoft.com/office/drawing/2014/main" id="{8EEBE4E0-5DC6-52FA-3CF6-C63974BE1001}"/>
                  </a:ext>
                </a:extLst>
              </p:cNvPr>
              <p:cNvPicPr/>
              <p:nvPr/>
            </p:nvPicPr>
            <p:blipFill>
              <a:blip r:embed="rId16"/>
              <a:stretch>
                <a:fillRect/>
              </a:stretch>
            </p:blipFill>
            <p:spPr>
              <a:xfrm>
                <a:off x="7204400" y="5058400"/>
                <a:ext cx="12600" cy="1120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F7AE3C2C-CDFE-C69F-1862-53DC3844B375}"/>
                  </a:ext>
                </a:extLst>
              </p14:cNvPr>
              <p14:cNvContentPartPr/>
              <p14:nvPr/>
            </p14:nvContentPartPr>
            <p14:xfrm>
              <a:off x="7464680" y="5278000"/>
              <a:ext cx="360" cy="863280"/>
            </p14:xfrm>
          </p:contentPart>
        </mc:Choice>
        <mc:Fallback xmlns="">
          <p:pic>
            <p:nvPicPr>
              <p:cNvPr id="20" name="Ink 19">
                <a:extLst>
                  <a:ext uri="{FF2B5EF4-FFF2-40B4-BE49-F238E27FC236}">
                    <a16:creationId xmlns:a16="http://schemas.microsoft.com/office/drawing/2014/main" id="{F7AE3C2C-CDFE-C69F-1862-53DC3844B375}"/>
                  </a:ext>
                </a:extLst>
              </p:cNvPr>
              <p:cNvPicPr/>
              <p:nvPr/>
            </p:nvPicPr>
            <p:blipFill>
              <a:blip r:embed="rId18"/>
              <a:stretch>
                <a:fillRect/>
              </a:stretch>
            </p:blipFill>
            <p:spPr>
              <a:xfrm>
                <a:off x="7458560" y="5271880"/>
                <a:ext cx="12600" cy="875520"/>
              </a:xfrm>
              <a:prstGeom prst="rect">
                <a:avLst/>
              </a:prstGeom>
            </p:spPr>
          </p:pic>
        </mc:Fallback>
      </mc:AlternateContent>
    </p:spTree>
    <p:extLst>
      <p:ext uri="{BB962C8B-B14F-4D97-AF65-F5344CB8AC3E}">
        <p14:creationId xmlns:p14="http://schemas.microsoft.com/office/powerpoint/2010/main" val="55013744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400"/>
              <a:t>3.  Person Orientation:</a:t>
            </a:r>
            <a:endParaRPr lang="en-US" sz="4400">
              <a:ea typeface="Meiryo"/>
            </a:endParaRP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10</a:t>
            </a:fld>
            <a:endParaRPr lang="en-US"/>
          </a:p>
        </p:txBody>
      </p:sp>
      <p:sp>
        <p:nvSpPr>
          <p:cNvPr id="8" name="Text Placeholder 2">
            <a:extLst>
              <a:ext uri="{FF2B5EF4-FFF2-40B4-BE49-F238E27FC236}">
                <a16:creationId xmlns:a16="http://schemas.microsoft.com/office/drawing/2014/main" id="{4FCA8088-C886-6396-1363-50052F30AE89}"/>
              </a:ext>
            </a:extLst>
          </p:cNvPr>
          <p:cNvSpPr txBox="1">
            <a:spLocks/>
          </p:cNvSpPr>
          <p:nvPr/>
        </p:nvSpPr>
        <p:spPr>
          <a:xfrm>
            <a:off x="620708" y="1670681"/>
            <a:ext cx="6516691" cy="12122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Use of our own SVM model: </a:t>
            </a:r>
          </a:p>
          <a:p>
            <a:pPr lvl="1">
              <a:buFont typeface="Wingdings" panose="05000000000000000000" pitchFamily="2" charset="2"/>
              <a:buChar char="Ø"/>
            </a:pPr>
            <a:r>
              <a:rPr lang="en-US" sz="2000">
                <a:latin typeface="Arial"/>
                <a:cs typeface="Arial"/>
              </a:rPr>
              <a:t>Trained with our own small dataset (500 images)</a:t>
            </a:r>
          </a:p>
          <a:p>
            <a:pPr lvl="1">
              <a:buFont typeface="Wingdings" panose="05000000000000000000" pitchFamily="2" charset="2"/>
              <a:buChar char="Ø"/>
            </a:pPr>
            <a:r>
              <a:rPr lang="en-US" sz="2000">
                <a:latin typeface="Arial"/>
                <a:cs typeface="Arial"/>
              </a:rPr>
              <a:t>74.76 % accuracy </a:t>
            </a:r>
          </a:p>
          <a:p>
            <a:pPr marL="0" indent="0">
              <a:buFont typeface="Arial" panose="020B0604020202020204" pitchFamily="34" charset="0"/>
              <a:buNone/>
            </a:pPr>
            <a:endParaRPr lang="en-US" sz="2000"/>
          </a:p>
          <a:p>
            <a:pPr marL="609585" indent="-609585"/>
            <a:endParaRPr lang="en-US" sz="2000">
              <a:latin typeface="Arial"/>
              <a:cs typeface="Arial"/>
            </a:endParaRPr>
          </a:p>
        </p:txBody>
      </p:sp>
      <p:sp>
        <p:nvSpPr>
          <p:cNvPr id="9" name="Text Placeholder 2">
            <a:extLst>
              <a:ext uri="{FF2B5EF4-FFF2-40B4-BE49-F238E27FC236}">
                <a16:creationId xmlns:a16="http://schemas.microsoft.com/office/drawing/2014/main" id="{24C2C1AA-DFE7-5964-E5A4-E5C149155C9D}"/>
              </a:ext>
            </a:extLst>
          </p:cNvPr>
          <p:cNvSpPr txBox="1">
            <a:spLocks/>
          </p:cNvSpPr>
          <p:nvPr/>
        </p:nvSpPr>
        <p:spPr>
          <a:xfrm>
            <a:off x="304256" y="1118760"/>
            <a:ext cx="6660215"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Goal</a:t>
            </a:r>
            <a:r>
              <a:rPr lang="en-US" sz="2000">
                <a:latin typeface="Arial"/>
                <a:cs typeface="Arial"/>
              </a:rPr>
              <a:t> : Find the orientation of each person</a:t>
            </a:r>
            <a:endParaRPr lang="en-US" sz="2000"/>
          </a:p>
        </p:txBody>
      </p:sp>
      <p:pic>
        <p:nvPicPr>
          <p:cNvPr id="10" name="Picture 9">
            <a:extLst>
              <a:ext uri="{FF2B5EF4-FFF2-40B4-BE49-F238E27FC236}">
                <a16:creationId xmlns:a16="http://schemas.microsoft.com/office/drawing/2014/main" id="{6D0FA5E4-3155-1C0C-B86C-2E90FF873869}"/>
              </a:ext>
            </a:extLst>
          </p:cNvPr>
          <p:cNvPicPr>
            <a:picLocks noChangeAspect="1"/>
          </p:cNvPicPr>
          <p:nvPr/>
        </p:nvPicPr>
        <p:blipFill rotWithShape="1">
          <a:blip r:embed="rId3">
            <a:extLst>
              <a:ext uri="{28A0092B-C50C-407E-A947-70E740481C1C}">
                <a14:useLocalDpi xmlns:a14="http://schemas.microsoft.com/office/drawing/2010/main" val="0"/>
              </a:ext>
            </a:extLst>
          </a:blip>
          <a:srcRect l="36644" t="27193" r="36644" b="25228"/>
          <a:stretch/>
        </p:blipFill>
        <p:spPr>
          <a:xfrm>
            <a:off x="7137399" y="940372"/>
            <a:ext cx="4526198" cy="4534726"/>
          </a:xfrm>
          <a:prstGeom prst="rect">
            <a:avLst/>
          </a:prstGeom>
        </p:spPr>
      </p:pic>
      <p:sp>
        <p:nvSpPr>
          <p:cNvPr id="11" name="Text Placeholder 2">
            <a:extLst>
              <a:ext uri="{FF2B5EF4-FFF2-40B4-BE49-F238E27FC236}">
                <a16:creationId xmlns:a16="http://schemas.microsoft.com/office/drawing/2014/main" id="{7F7E8AC8-8917-5CE3-DF6B-8E23A0096244}"/>
              </a:ext>
            </a:extLst>
          </p:cNvPr>
          <p:cNvSpPr txBox="1">
            <a:spLocks/>
          </p:cNvSpPr>
          <p:nvPr/>
        </p:nvSpPr>
        <p:spPr>
          <a:xfrm>
            <a:off x="328963" y="2979135"/>
            <a:ext cx="6224592" cy="2342165"/>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t>Feature Vector:</a:t>
            </a:r>
          </a:p>
          <a:p>
            <a:pPr marL="0" indent="0">
              <a:buNone/>
            </a:pPr>
            <a:r>
              <a:rPr lang="en-US" sz="2000">
                <a:latin typeface="Arial"/>
                <a:cs typeface="Arial"/>
              </a:rPr>
              <a:t>[scaled upper body </a:t>
            </a:r>
            <a:r>
              <a:rPr lang="en-US" sz="2000" err="1">
                <a:latin typeface="Arial"/>
                <a:cs typeface="Arial"/>
              </a:rPr>
              <a:t>keypoints</a:t>
            </a:r>
            <a:r>
              <a:rPr lang="en-US" sz="2000">
                <a:latin typeface="Arial"/>
                <a:cs typeface="Arial"/>
              </a:rPr>
              <a:t> (eyes, nose, shoulders, hips), mean angles of each pairs of </a:t>
            </a:r>
            <a:r>
              <a:rPr lang="en-US" sz="2000" err="1">
                <a:latin typeface="Arial"/>
                <a:cs typeface="Arial"/>
              </a:rPr>
              <a:t>keypoints</a:t>
            </a:r>
            <a:r>
              <a:rPr lang="en-US" sz="2000">
                <a:latin typeface="Arial"/>
                <a:cs typeface="Arial"/>
              </a:rPr>
              <a:t>, depth]</a:t>
            </a:r>
          </a:p>
          <a:p>
            <a:pPr marL="0" indent="0">
              <a:buFont typeface="Arial" panose="020B0604020202020204" pitchFamily="34" charset="0"/>
              <a:buNone/>
            </a:pPr>
            <a:endParaRPr lang="en-US" sz="2000"/>
          </a:p>
          <a:p>
            <a:pPr marL="0" indent="0">
              <a:buFont typeface="Arial" panose="020B0604020202020204" pitchFamily="34" charset="0"/>
              <a:buNone/>
            </a:pPr>
            <a:r>
              <a:rPr lang="en-US" sz="2000"/>
              <a:t>Output:</a:t>
            </a:r>
          </a:p>
          <a:p>
            <a:pPr marL="0" indent="0">
              <a:buFont typeface="Arial" panose="020B0604020202020204" pitchFamily="34" charset="0"/>
              <a:buNone/>
            </a:pPr>
            <a:r>
              <a:rPr lang="en-US" sz="2000"/>
              <a:t>Angle in degree: [0, 45, 90, 135, 180, 225, 270, 315]</a:t>
            </a:r>
          </a:p>
          <a:p>
            <a:pPr marL="0" indent="0">
              <a:buFont typeface="Arial" panose="020B0604020202020204" pitchFamily="34" charset="0"/>
              <a:buNone/>
            </a:pPr>
            <a:endParaRPr lang="en-US" sz="2000"/>
          </a:p>
          <a:p>
            <a:pPr marL="608965" indent="-608965"/>
            <a:endParaRPr lang="en-US" sz="2000">
              <a:latin typeface="Arial"/>
              <a:cs typeface="Arial"/>
            </a:endParaRPr>
          </a:p>
        </p:txBody>
      </p:sp>
    </p:spTree>
    <p:extLst>
      <p:ext uri="{BB962C8B-B14F-4D97-AF65-F5344CB8AC3E}">
        <p14:creationId xmlns:p14="http://schemas.microsoft.com/office/powerpoint/2010/main" val="5673191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400"/>
              <a:t>4.  Cost Map</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11</a:t>
            </a:fld>
            <a:endParaRPr lang="en-US"/>
          </a:p>
        </p:txBody>
      </p:sp>
      <p:sp>
        <p:nvSpPr>
          <p:cNvPr id="3" name="Text Placeholder 2">
            <a:extLst>
              <a:ext uri="{FF2B5EF4-FFF2-40B4-BE49-F238E27FC236}">
                <a16:creationId xmlns:a16="http://schemas.microsoft.com/office/drawing/2014/main" id="{CEAF514B-D825-C43A-CB7D-0EB62E3AEA93}"/>
              </a:ext>
            </a:extLst>
          </p:cNvPr>
          <p:cNvSpPr txBox="1">
            <a:spLocks/>
          </p:cNvSpPr>
          <p:nvPr/>
        </p:nvSpPr>
        <p:spPr>
          <a:xfrm>
            <a:off x="620708" y="1670681"/>
            <a:ext cx="7395949" cy="9455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49860" indent="-149860">
              <a:buFont typeface="Wingdings" panose="05000000000000000000" pitchFamily="2" charset="2"/>
              <a:buChar char="Ø"/>
            </a:pPr>
            <a:r>
              <a:rPr lang="en-US" sz="2000">
                <a:latin typeface="Arial"/>
                <a:cs typeface="Arial"/>
              </a:rPr>
              <a:t> X = horizontal position</a:t>
            </a:r>
            <a:endParaRPr lang="en-US" sz="2000"/>
          </a:p>
          <a:p>
            <a:pPr marL="149860" indent="-149860">
              <a:buFont typeface="Wingdings" panose="05000000000000000000" pitchFamily="2" charset="2"/>
              <a:buChar char="Ø"/>
            </a:pPr>
            <a:r>
              <a:rPr lang="en-US" sz="2000">
                <a:latin typeface="Arial"/>
                <a:cs typeface="Arial"/>
              </a:rPr>
              <a:t> Y = depth</a:t>
            </a:r>
          </a:p>
          <a:p>
            <a:pPr marL="149860" indent="-149860">
              <a:buFont typeface="Wingdings" panose="05000000000000000000" pitchFamily="2" charset="2"/>
              <a:buChar char="Ø"/>
            </a:pPr>
            <a:r>
              <a:rPr lang="en-US" sz="2000">
                <a:latin typeface="Arial"/>
                <a:cs typeface="Arial"/>
              </a:rPr>
              <a:t>1 unit = 1 cm on the scale to the right</a:t>
            </a:r>
          </a:p>
          <a:p>
            <a:pPr marL="149860" indent="-149860">
              <a:buFont typeface="Wingdings" panose="05000000000000000000" pitchFamily="2" charset="2"/>
              <a:buChar char="Ø"/>
            </a:pPr>
            <a:endParaRPr lang="en-US" sz="2000">
              <a:latin typeface="Arial"/>
              <a:cs typeface="Arial"/>
            </a:endParaRPr>
          </a:p>
          <a:p>
            <a:pPr marL="149860" indent="-149860">
              <a:buFont typeface="Wingdings" panose="05000000000000000000" pitchFamily="2" charset="2"/>
              <a:buChar char="Ø"/>
            </a:pPr>
            <a:endParaRPr lang="en-US" sz="2000">
              <a:latin typeface="Arial"/>
              <a:cs typeface="Arial"/>
            </a:endParaRPr>
          </a:p>
        </p:txBody>
      </p:sp>
      <p:sp>
        <p:nvSpPr>
          <p:cNvPr id="7" name="Text Placeholder 2">
            <a:extLst>
              <a:ext uri="{FF2B5EF4-FFF2-40B4-BE49-F238E27FC236}">
                <a16:creationId xmlns:a16="http://schemas.microsoft.com/office/drawing/2014/main" id="{1872D6B6-0B25-591A-979F-80372AF84712}"/>
              </a:ext>
            </a:extLst>
          </p:cNvPr>
          <p:cNvSpPr txBox="1">
            <a:spLocks/>
          </p:cNvSpPr>
          <p:nvPr/>
        </p:nvSpPr>
        <p:spPr>
          <a:xfrm>
            <a:off x="304256" y="1118760"/>
            <a:ext cx="6660215"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latin typeface="Arial"/>
                <a:cs typeface="Arial"/>
              </a:rPr>
              <a:t>Represent to top view of the environment</a:t>
            </a:r>
            <a:endParaRPr lang="en-US" sz="2000"/>
          </a:p>
        </p:txBody>
      </p:sp>
      <p:sp>
        <p:nvSpPr>
          <p:cNvPr id="10" name="Text Placeholder 2">
            <a:extLst>
              <a:ext uri="{FF2B5EF4-FFF2-40B4-BE49-F238E27FC236}">
                <a16:creationId xmlns:a16="http://schemas.microsoft.com/office/drawing/2014/main" id="{11E23E75-6028-0096-65A5-69A490B23CDF}"/>
              </a:ext>
            </a:extLst>
          </p:cNvPr>
          <p:cNvSpPr txBox="1">
            <a:spLocks/>
          </p:cNvSpPr>
          <p:nvPr/>
        </p:nvSpPr>
        <p:spPr>
          <a:xfrm>
            <a:off x="620708" y="3681638"/>
            <a:ext cx="7395949" cy="9455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Each cell as a probability</a:t>
            </a:r>
          </a:p>
          <a:p>
            <a:pPr>
              <a:buFont typeface="Wingdings" panose="05000000000000000000" pitchFamily="2" charset="2"/>
              <a:buChar char="Ø"/>
            </a:pPr>
            <a:r>
              <a:rPr lang="en-US" sz="2000">
                <a:latin typeface="Arial"/>
                <a:cs typeface="Arial"/>
              </a:rPr>
              <a:t> It’s the probability of an obstacle being there </a:t>
            </a:r>
          </a:p>
          <a:p>
            <a:pPr>
              <a:buFont typeface="Wingdings" panose="05000000000000000000" pitchFamily="2" charset="2"/>
              <a:buChar char="Ø"/>
            </a:pPr>
            <a:endParaRPr lang="en-US" sz="2000">
              <a:latin typeface="Arial"/>
              <a:cs typeface="Arial"/>
            </a:endParaRPr>
          </a:p>
          <a:p>
            <a:pPr>
              <a:buFont typeface="Wingdings" panose="05000000000000000000" pitchFamily="2" charset="2"/>
              <a:buChar char="Ø"/>
            </a:pPr>
            <a:endParaRPr lang="en-US" sz="2000">
              <a:latin typeface="Arial"/>
              <a:cs typeface="Arial"/>
            </a:endParaRPr>
          </a:p>
        </p:txBody>
      </p:sp>
      <p:sp>
        <p:nvSpPr>
          <p:cNvPr id="11" name="Text Placeholder 2">
            <a:extLst>
              <a:ext uri="{FF2B5EF4-FFF2-40B4-BE49-F238E27FC236}">
                <a16:creationId xmlns:a16="http://schemas.microsoft.com/office/drawing/2014/main" id="{679CF4C1-A515-40A2-384A-83F5E5E07F1D}"/>
              </a:ext>
            </a:extLst>
          </p:cNvPr>
          <p:cNvSpPr txBox="1">
            <a:spLocks/>
          </p:cNvSpPr>
          <p:nvPr/>
        </p:nvSpPr>
        <p:spPr>
          <a:xfrm>
            <a:off x="304256" y="3129717"/>
            <a:ext cx="6660215"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latin typeface="Arial"/>
                <a:cs typeface="Arial"/>
              </a:rPr>
              <a:t>The cost map is a grid where  : </a:t>
            </a:r>
            <a:endParaRPr lang="en-US" sz="2000"/>
          </a:p>
        </p:txBody>
      </p:sp>
      <p:sp>
        <p:nvSpPr>
          <p:cNvPr id="14" name="Text Placeholder 2">
            <a:extLst>
              <a:ext uri="{FF2B5EF4-FFF2-40B4-BE49-F238E27FC236}">
                <a16:creationId xmlns:a16="http://schemas.microsoft.com/office/drawing/2014/main" id="{5A4F827F-0F8F-BC4F-AE8F-089BC765B850}"/>
              </a:ext>
            </a:extLst>
          </p:cNvPr>
          <p:cNvSpPr txBox="1">
            <a:spLocks/>
          </p:cNvSpPr>
          <p:nvPr/>
        </p:nvSpPr>
        <p:spPr>
          <a:xfrm>
            <a:off x="580376" y="5386417"/>
            <a:ext cx="7395949" cy="9455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Ellipse shape</a:t>
            </a:r>
          </a:p>
          <a:p>
            <a:pPr>
              <a:buFont typeface="Wingdings" panose="05000000000000000000" pitchFamily="2" charset="2"/>
              <a:buChar char="Ø"/>
            </a:pPr>
            <a:r>
              <a:rPr lang="en-US" sz="2000">
                <a:latin typeface="Arial"/>
                <a:cs typeface="Arial"/>
              </a:rPr>
              <a:t> Probability decreasing along a circle from the center</a:t>
            </a:r>
          </a:p>
          <a:p>
            <a:pPr>
              <a:buFont typeface="Wingdings" panose="05000000000000000000" pitchFamily="2" charset="2"/>
              <a:buChar char="Ø"/>
            </a:pPr>
            <a:endParaRPr lang="en-US" sz="2000">
              <a:latin typeface="Arial"/>
              <a:cs typeface="Arial"/>
            </a:endParaRPr>
          </a:p>
          <a:p>
            <a:pPr>
              <a:buFont typeface="Wingdings" panose="05000000000000000000" pitchFamily="2" charset="2"/>
              <a:buChar char="Ø"/>
            </a:pPr>
            <a:endParaRPr lang="en-US" sz="2000">
              <a:latin typeface="Arial"/>
              <a:cs typeface="Arial"/>
            </a:endParaRPr>
          </a:p>
        </p:txBody>
      </p:sp>
      <p:sp>
        <p:nvSpPr>
          <p:cNvPr id="15" name="Text Placeholder 2">
            <a:extLst>
              <a:ext uri="{FF2B5EF4-FFF2-40B4-BE49-F238E27FC236}">
                <a16:creationId xmlns:a16="http://schemas.microsoft.com/office/drawing/2014/main" id="{BB42AE28-2A96-2D50-6F6D-2C5A76AC9441}"/>
              </a:ext>
            </a:extLst>
          </p:cNvPr>
          <p:cNvSpPr txBox="1">
            <a:spLocks/>
          </p:cNvSpPr>
          <p:nvPr/>
        </p:nvSpPr>
        <p:spPr>
          <a:xfrm>
            <a:off x="263924" y="4834496"/>
            <a:ext cx="6660215" cy="3981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a:latin typeface="Arial"/>
                <a:cs typeface="Arial"/>
              </a:rPr>
              <a:t>Our obstacles are only moving human: </a:t>
            </a:r>
            <a:endParaRPr lang="en-US" sz="2000"/>
          </a:p>
        </p:txBody>
      </p:sp>
      <p:pic>
        <p:nvPicPr>
          <p:cNvPr id="19" name="Picture 18" descr="A chart of a graph">
            <a:extLst>
              <a:ext uri="{FF2B5EF4-FFF2-40B4-BE49-F238E27FC236}">
                <a16:creationId xmlns:a16="http://schemas.microsoft.com/office/drawing/2014/main" id="{C8EC4AA3-1EAA-7945-2E08-B7436BC88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3452" y="1112532"/>
            <a:ext cx="5662542" cy="4425348"/>
          </a:xfrm>
          <a:prstGeom prst="rect">
            <a:avLst/>
          </a:prstGeom>
        </p:spPr>
      </p:pic>
    </p:spTree>
    <p:extLst>
      <p:ext uri="{BB962C8B-B14F-4D97-AF65-F5344CB8AC3E}">
        <p14:creationId xmlns:p14="http://schemas.microsoft.com/office/powerpoint/2010/main" val="5915828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800"/>
              <a:t>5.  Navigation Algorithm</a:t>
            </a:r>
            <a:endParaRPr lang="en-US"/>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12</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280810" y="1262534"/>
            <a:ext cx="6335890" cy="4880879"/>
          </a:xfrm>
        </p:spPr>
        <p:txBody>
          <a:bodyPr vert="horz" lIns="121920" tIns="60960" rIns="121920" bIns="60960" rtlCol="0" anchor="t">
            <a:normAutofit/>
          </a:bodyPr>
          <a:lstStyle/>
          <a:p>
            <a:pPr marL="0" indent="0"/>
            <a:r>
              <a:rPr lang="en-US" sz="2000">
                <a:latin typeface="Arial"/>
                <a:cs typeface="Arial"/>
              </a:rPr>
              <a:t>We are using a probabilistic A* to navigate through the environment</a:t>
            </a:r>
            <a:endParaRPr lang="en-US" sz="2000"/>
          </a:p>
          <a:p>
            <a:pPr marL="382905" lvl="1" indent="0"/>
            <a:endParaRPr lang="en-US" sz="2000">
              <a:latin typeface="Arial"/>
              <a:cs typeface="Arial"/>
            </a:endParaRPr>
          </a:p>
          <a:p>
            <a:pPr marL="382905" lvl="1" indent="0"/>
            <a:r>
              <a:rPr lang="en-US" sz="2000">
                <a:latin typeface="Arial"/>
                <a:cs typeface="Arial"/>
              </a:rPr>
              <a:t>Our cost map uses a heuristic that integrates both distance from dynamic objects and the probability of collision with the object.</a:t>
            </a:r>
          </a:p>
          <a:p>
            <a:pPr marL="382905" lvl="1" indent="0"/>
            <a:endParaRPr lang="en-US" sz="2000">
              <a:latin typeface="Arial"/>
              <a:cs typeface="Arial"/>
            </a:endParaRPr>
          </a:p>
          <a:p>
            <a:pPr marL="836295" lvl="2" indent="0">
              <a:buFont typeface="Wingdings" panose="020B0604020202020204" pitchFamily="34" charset="0"/>
              <a:buChar char="§"/>
            </a:pPr>
            <a:r>
              <a:rPr lang="en-US" sz="2000">
                <a:latin typeface="Arial"/>
                <a:cs typeface="Arial"/>
              </a:rPr>
              <a:t>Heuristic = </a:t>
            </a:r>
            <a:r>
              <a:rPr lang="en-US" sz="2000" err="1">
                <a:latin typeface="Arial"/>
                <a:cs typeface="Arial"/>
              </a:rPr>
              <a:t>euclidean</a:t>
            </a:r>
            <a:r>
              <a:rPr lang="en-US" sz="2000">
                <a:latin typeface="Arial"/>
                <a:cs typeface="Arial"/>
              </a:rPr>
              <a:t> distance between two points</a:t>
            </a:r>
          </a:p>
          <a:p>
            <a:pPr marL="382905" lvl="1" indent="0"/>
            <a:endParaRPr lang="en-US" sz="2000">
              <a:latin typeface="Arial"/>
              <a:cs typeface="Arial"/>
            </a:endParaRPr>
          </a:p>
          <a:p>
            <a:pPr marL="382905" lvl="1" indent="0"/>
            <a:r>
              <a:rPr lang="en-US" sz="2000">
                <a:latin typeface="Arial"/>
                <a:cs typeface="Arial"/>
              </a:rPr>
              <a:t>1 unit = 0.1 cm on this shrunk down map</a:t>
            </a:r>
          </a:p>
          <a:p>
            <a:pPr marL="0" indent="0"/>
            <a:endParaRPr lang="en-US" sz="2000">
              <a:latin typeface="Arial"/>
              <a:cs typeface="Arial"/>
            </a:endParaRPr>
          </a:p>
          <a:p>
            <a:pPr marL="608965" indent="-608965"/>
            <a:endParaRPr lang="en-US" sz="2000">
              <a:latin typeface="Arial"/>
              <a:cs typeface="Arial"/>
            </a:endParaRPr>
          </a:p>
        </p:txBody>
      </p:sp>
      <p:pic>
        <p:nvPicPr>
          <p:cNvPr id="7" name="Picture 6" descr="A screen shot of a game&#10;&#10;Description automatically generated">
            <a:extLst>
              <a:ext uri="{FF2B5EF4-FFF2-40B4-BE49-F238E27FC236}">
                <a16:creationId xmlns:a16="http://schemas.microsoft.com/office/drawing/2014/main" id="{A1B54E1D-0911-01AA-B6B1-54B3C917A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6693" y="1262534"/>
            <a:ext cx="5277964" cy="4111704"/>
          </a:xfrm>
          <a:prstGeom prst="rect">
            <a:avLst/>
          </a:prstGeom>
        </p:spPr>
      </p:pic>
    </p:spTree>
    <p:extLst>
      <p:ext uri="{BB962C8B-B14F-4D97-AF65-F5344CB8AC3E}">
        <p14:creationId xmlns:p14="http://schemas.microsoft.com/office/powerpoint/2010/main" val="10080554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a:xfrm>
            <a:off x="263924" y="449733"/>
            <a:ext cx="7682188" cy="354600"/>
          </a:xfrm>
        </p:spPr>
        <p:txBody>
          <a:bodyPr vert="horz" lIns="121920" tIns="60960" rIns="121920" bIns="60960" rtlCol="0" anchor="t">
            <a:noAutofit/>
          </a:bodyPr>
          <a:lstStyle/>
          <a:p>
            <a:r>
              <a:rPr lang="en-US" sz="4000"/>
              <a:t>Navigation Algorithm Decision</a:t>
            </a:r>
            <a:endParaRPr lang="en-US"/>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13</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294142" y="1262534"/>
            <a:ext cx="6435067" cy="5241097"/>
          </a:xfrm>
        </p:spPr>
        <p:txBody>
          <a:bodyPr vert="horz" lIns="121920" tIns="60960" rIns="121920" bIns="60960" rtlCol="0" anchor="t">
            <a:normAutofit/>
          </a:bodyPr>
          <a:lstStyle/>
          <a:p>
            <a:pPr marL="0" indent="0"/>
            <a:r>
              <a:rPr lang="en-US" sz="2000">
                <a:latin typeface="Arial"/>
                <a:cs typeface="Arial"/>
              </a:rPr>
              <a:t>Why A*?</a:t>
            </a:r>
            <a:endParaRPr lang="en-US" sz="2000"/>
          </a:p>
          <a:p>
            <a:pPr marL="382905" lvl="1" indent="-342900">
              <a:buFont typeface="Courier New" panose="020B0604020202020204" pitchFamily="34" charset="0"/>
              <a:buChar char="o"/>
            </a:pPr>
            <a:r>
              <a:rPr lang="en-US" sz="2000">
                <a:latin typeface="Arial"/>
                <a:cs typeface="Arial"/>
              </a:rPr>
              <a:t>Faster than Dijkstra</a:t>
            </a:r>
          </a:p>
          <a:p>
            <a:pPr marL="836295" lvl="2" indent="-219710">
              <a:buFont typeface="Wingdings" panose="020B0604020202020204" pitchFamily="34" charset="0"/>
              <a:buChar char="§"/>
            </a:pPr>
            <a:r>
              <a:rPr lang="en-US" sz="2000">
                <a:latin typeface="Arial"/>
                <a:cs typeface="Arial"/>
              </a:rPr>
              <a:t>Dijkstra</a:t>
            </a:r>
            <a:r>
              <a:rPr lang="en-US" sz="2000" b="0">
                <a:latin typeface="Arial"/>
                <a:cs typeface="Arial"/>
              </a:rPr>
              <a:t> explores all nodes. A* </a:t>
            </a:r>
            <a:r>
              <a:rPr lang="en-US" sz="2000">
                <a:latin typeface="Arial"/>
                <a:cs typeface="Arial"/>
              </a:rPr>
              <a:t>chooses </a:t>
            </a:r>
            <a:r>
              <a:rPr lang="en-US" sz="2000" b="0">
                <a:latin typeface="Arial"/>
                <a:cs typeface="Arial"/>
              </a:rPr>
              <a:t>not </a:t>
            </a:r>
            <a:r>
              <a:rPr lang="en-US" sz="2000">
                <a:latin typeface="Arial"/>
                <a:cs typeface="Arial"/>
              </a:rPr>
              <a:t>to </a:t>
            </a:r>
            <a:r>
              <a:rPr lang="en-US" sz="2000" b="0">
                <a:latin typeface="Arial"/>
                <a:cs typeface="Arial"/>
              </a:rPr>
              <a:t>prioritize</a:t>
            </a:r>
            <a:r>
              <a:rPr lang="en-US" sz="2000">
                <a:latin typeface="Arial"/>
                <a:cs typeface="Arial"/>
              </a:rPr>
              <a:t> higher cost neighbor paths</a:t>
            </a:r>
            <a:r>
              <a:rPr lang="en-US" sz="2000" b="0">
                <a:latin typeface="Arial"/>
                <a:cs typeface="Arial"/>
              </a:rPr>
              <a:t>.</a:t>
            </a:r>
          </a:p>
          <a:p>
            <a:pPr marL="616585" lvl="2" indent="0">
              <a:buNone/>
            </a:pPr>
            <a:endParaRPr lang="en-US" sz="2000">
              <a:latin typeface="Arial"/>
              <a:cs typeface="Arial"/>
            </a:endParaRPr>
          </a:p>
          <a:p>
            <a:pPr marL="616585" lvl="2" indent="0">
              <a:buNone/>
            </a:pPr>
            <a:endParaRPr lang="en-US" sz="2000">
              <a:latin typeface="Arial"/>
              <a:cs typeface="Arial"/>
            </a:endParaRPr>
          </a:p>
          <a:p>
            <a:pPr marL="616585" lvl="2" indent="0">
              <a:buNone/>
            </a:pPr>
            <a:endParaRPr lang="en-US" sz="2000">
              <a:latin typeface="Arial"/>
              <a:cs typeface="Arial"/>
            </a:endParaRPr>
          </a:p>
          <a:p>
            <a:pPr marL="0" indent="0"/>
            <a:r>
              <a:rPr lang="en-US" sz="2000">
                <a:latin typeface="Arial"/>
                <a:cs typeface="Arial"/>
              </a:rPr>
              <a:t>Possible future comparison explorations:</a:t>
            </a:r>
            <a:endParaRPr lang="en-US" sz="2000"/>
          </a:p>
          <a:p>
            <a:pPr marL="382905" lvl="1" indent="-342900">
              <a:buFont typeface="Courier New" panose="020B0604020202020204" pitchFamily="34" charset="0"/>
              <a:buChar char="o"/>
            </a:pPr>
            <a:r>
              <a:rPr lang="en-US" sz="2000" b="0">
                <a:latin typeface="Arial"/>
                <a:cs typeface="Arial"/>
              </a:rPr>
              <a:t>Dijkstra:</a:t>
            </a:r>
            <a:r>
              <a:rPr lang="en-US" sz="2000">
                <a:latin typeface="Arial"/>
                <a:cs typeface="Arial"/>
              </a:rPr>
              <a:t> Takes more time. Only considers cost from start node to N.</a:t>
            </a:r>
            <a:endParaRPr lang="en-US" sz="2000" b="0"/>
          </a:p>
          <a:p>
            <a:pPr marL="382905" lvl="1" indent="-342900">
              <a:buFont typeface="Courier New" panose="020B0604020202020204" pitchFamily="34" charset="0"/>
              <a:buChar char="o"/>
            </a:pPr>
            <a:r>
              <a:rPr lang="en-US" sz="2000" b="0">
                <a:latin typeface="Arial"/>
                <a:cs typeface="Arial"/>
              </a:rPr>
              <a:t>D*: Categorizes paths to come back to if cost decreases. Most promising </a:t>
            </a:r>
            <a:r>
              <a:rPr lang="en-US" sz="2000">
                <a:latin typeface="Arial"/>
                <a:cs typeface="Arial"/>
              </a:rPr>
              <a:t>thing to</a:t>
            </a:r>
            <a:r>
              <a:rPr lang="en-US" sz="2000" b="0">
                <a:latin typeface="Arial"/>
                <a:cs typeface="Arial"/>
              </a:rPr>
              <a:t> research/integrate in the future</a:t>
            </a:r>
            <a:r>
              <a:rPr lang="en-US" sz="2000">
                <a:latin typeface="Arial"/>
                <a:cs typeface="Arial"/>
              </a:rPr>
              <a:t>.(Not that much data on time)</a:t>
            </a:r>
            <a:endParaRPr lang="en-US" sz="2000" b="0">
              <a:latin typeface="Arial"/>
              <a:cs typeface="Arial"/>
            </a:endParaRPr>
          </a:p>
          <a:p>
            <a:pPr marL="40005" lvl="1" indent="0">
              <a:buNone/>
            </a:pPr>
            <a:endParaRPr lang="en-US" sz="2000"/>
          </a:p>
        </p:txBody>
      </p:sp>
      <p:pic>
        <p:nvPicPr>
          <p:cNvPr id="7" name="Picture 6" descr="A graph showing the number of nodes&#10;&#10;Description automatically generated">
            <a:extLst>
              <a:ext uri="{FF2B5EF4-FFF2-40B4-BE49-F238E27FC236}">
                <a16:creationId xmlns:a16="http://schemas.microsoft.com/office/drawing/2014/main" id="{D72E9A5E-3B4F-2538-D091-E612B0991F3B}"/>
              </a:ext>
            </a:extLst>
          </p:cNvPr>
          <p:cNvPicPr>
            <a:picLocks noChangeAspect="1"/>
          </p:cNvPicPr>
          <p:nvPr/>
        </p:nvPicPr>
        <p:blipFill>
          <a:blip r:embed="rId3"/>
          <a:stretch>
            <a:fillRect/>
          </a:stretch>
        </p:blipFill>
        <p:spPr>
          <a:xfrm>
            <a:off x="6786855" y="319469"/>
            <a:ext cx="5152392" cy="2418984"/>
          </a:xfrm>
          <a:prstGeom prst="rect">
            <a:avLst/>
          </a:prstGeom>
        </p:spPr>
      </p:pic>
      <p:pic>
        <p:nvPicPr>
          <p:cNvPr id="6" name="Picture 5" descr="PPT - Game Programming 11 AI in game programming PowerPoint ...">
            <a:extLst>
              <a:ext uri="{FF2B5EF4-FFF2-40B4-BE49-F238E27FC236}">
                <a16:creationId xmlns:a16="http://schemas.microsoft.com/office/drawing/2014/main" id="{95A71053-E58E-53AA-318B-E8B573DA8260}"/>
              </a:ext>
            </a:extLst>
          </p:cNvPr>
          <p:cNvPicPr>
            <a:picLocks noChangeAspect="1"/>
          </p:cNvPicPr>
          <p:nvPr/>
        </p:nvPicPr>
        <p:blipFill>
          <a:blip r:embed="rId4"/>
          <a:stretch>
            <a:fillRect/>
          </a:stretch>
        </p:blipFill>
        <p:spPr>
          <a:xfrm>
            <a:off x="6797151" y="2971894"/>
            <a:ext cx="5149769" cy="3740538"/>
          </a:xfrm>
          <a:prstGeom prst="rect">
            <a:avLst/>
          </a:prstGeom>
        </p:spPr>
      </p:pic>
    </p:spTree>
    <p:extLst>
      <p:ext uri="{BB962C8B-B14F-4D97-AF65-F5344CB8AC3E}">
        <p14:creationId xmlns:p14="http://schemas.microsoft.com/office/powerpoint/2010/main" val="96690523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800"/>
              <a:t>6.  Simulation</a:t>
            </a:r>
            <a:endParaRPr lang="en-US"/>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14</a:t>
            </a:fld>
            <a:endParaRPr lang="en-US"/>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CF6B218E-99E0-DB65-40F0-867E6D958360}"/>
                  </a:ext>
                </a:extLst>
              </p14:cNvPr>
              <p14:cNvContentPartPr/>
              <p14:nvPr/>
            </p14:nvContentPartPr>
            <p14:xfrm>
              <a:off x="13579523" y="5339687"/>
              <a:ext cx="17059" cy="17059"/>
            </p14:xfrm>
          </p:contentPart>
        </mc:Choice>
        <mc:Fallback xmlns="">
          <p:pic>
            <p:nvPicPr>
              <p:cNvPr id="14" name="Ink 13">
                <a:extLst>
                  <a:ext uri="{FF2B5EF4-FFF2-40B4-BE49-F238E27FC236}">
                    <a16:creationId xmlns:a16="http://schemas.microsoft.com/office/drawing/2014/main" id="{CF6B218E-99E0-DB65-40F0-867E6D958360}"/>
                  </a:ext>
                </a:extLst>
              </p:cNvPr>
              <p:cNvPicPr/>
              <p:nvPr/>
            </p:nvPicPr>
            <p:blipFill>
              <a:blip r:embed="rId6"/>
              <a:stretch>
                <a:fillRect/>
              </a:stretch>
            </p:blipFill>
            <p:spPr>
              <a:xfrm>
                <a:off x="12726573" y="4486737"/>
                <a:ext cx="1705900" cy="1705900"/>
              </a:xfrm>
              <a:prstGeom prst="rect">
                <a:avLst/>
              </a:prstGeom>
            </p:spPr>
          </p:pic>
        </mc:Fallback>
      </mc:AlternateContent>
      <p:cxnSp>
        <p:nvCxnSpPr>
          <p:cNvPr id="23" name="Straight Arrow Connector 22">
            <a:extLst>
              <a:ext uri="{FF2B5EF4-FFF2-40B4-BE49-F238E27FC236}">
                <a16:creationId xmlns:a16="http://schemas.microsoft.com/office/drawing/2014/main" id="{446B2A08-932C-3216-C251-8051DBC0B204}"/>
              </a:ext>
            </a:extLst>
          </p:cNvPr>
          <p:cNvCxnSpPr>
            <a:cxnSpLocks/>
          </p:cNvCxnSpPr>
          <p:nvPr/>
        </p:nvCxnSpPr>
        <p:spPr>
          <a:xfrm flipV="1">
            <a:off x="1534560" y="3762336"/>
            <a:ext cx="2231214" cy="77391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7FE57F1-8B09-76BF-C0BC-717771A4506B}"/>
              </a:ext>
            </a:extLst>
          </p:cNvPr>
          <p:cNvSpPr txBox="1"/>
          <p:nvPr/>
        </p:nvSpPr>
        <p:spPr>
          <a:xfrm rot="20553209">
            <a:off x="2273037" y="3645442"/>
            <a:ext cx="1154211" cy="400110"/>
          </a:xfrm>
          <a:prstGeom prst="rect">
            <a:avLst/>
          </a:prstGeom>
          <a:noFill/>
        </p:spPr>
        <p:txBody>
          <a:bodyPr wrap="square" rtlCol="0">
            <a:spAutoFit/>
          </a:bodyPr>
          <a:lstStyle/>
          <a:p>
            <a:r>
              <a:rPr lang="en-US" sz="2000"/>
              <a:t>t</a:t>
            </a:r>
          </a:p>
        </p:txBody>
      </p:sp>
      <p:sp>
        <p:nvSpPr>
          <p:cNvPr id="26" name="Text Placeholder 2">
            <a:extLst>
              <a:ext uri="{FF2B5EF4-FFF2-40B4-BE49-F238E27FC236}">
                <a16:creationId xmlns:a16="http://schemas.microsoft.com/office/drawing/2014/main" id="{34FC1375-ADDD-CCD3-C578-6E8E7D64C598}"/>
              </a:ext>
            </a:extLst>
          </p:cNvPr>
          <p:cNvSpPr txBox="1">
            <a:spLocks/>
          </p:cNvSpPr>
          <p:nvPr/>
        </p:nvSpPr>
        <p:spPr>
          <a:xfrm>
            <a:off x="304256" y="1118760"/>
            <a:ext cx="6660215" cy="6039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Goal</a:t>
            </a:r>
            <a:r>
              <a:rPr lang="en-US" sz="2000">
                <a:latin typeface="Arial"/>
                <a:cs typeface="Arial"/>
              </a:rPr>
              <a:t> : Find the optimal path while avoiding all obstacles </a:t>
            </a:r>
            <a:endParaRPr lang="en-US" sz="2000"/>
          </a:p>
        </p:txBody>
      </p:sp>
      <p:cxnSp>
        <p:nvCxnSpPr>
          <p:cNvPr id="27" name="Straight Arrow Connector 26">
            <a:extLst>
              <a:ext uri="{FF2B5EF4-FFF2-40B4-BE49-F238E27FC236}">
                <a16:creationId xmlns:a16="http://schemas.microsoft.com/office/drawing/2014/main" id="{E39C70DC-36E7-92FC-C73E-057A2614729C}"/>
              </a:ext>
            </a:extLst>
          </p:cNvPr>
          <p:cNvCxnSpPr>
            <a:cxnSpLocks/>
          </p:cNvCxnSpPr>
          <p:nvPr/>
        </p:nvCxnSpPr>
        <p:spPr>
          <a:xfrm flipV="1">
            <a:off x="1435942" y="4254601"/>
            <a:ext cx="351427" cy="115447"/>
          </a:xfrm>
          <a:prstGeom prst="straightConnector1">
            <a:avLst/>
          </a:prstGeom>
          <a:ln w="1905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31" name="TextBox 30">
            <a:extLst>
              <a:ext uri="{FF2B5EF4-FFF2-40B4-BE49-F238E27FC236}">
                <a16:creationId xmlns:a16="http://schemas.microsoft.com/office/drawing/2014/main" id="{82EAAD1F-3AA5-6646-8408-FE0C18D7B05F}"/>
              </a:ext>
            </a:extLst>
          </p:cNvPr>
          <p:cNvSpPr txBox="1"/>
          <p:nvPr/>
        </p:nvSpPr>
        <p:spPr>
          <a:xfrm rot="20553209">
            <a:off x="1297054" y="3768824"/>
            <a:ext cx="1154211" cy="400110"/>
          </a:xfrm>
          <a:prstGeom prst="rect">
            <a:avLst/>
          </a:prstGeom>
          <a:noFill/>
        </p:spPr>
        <p:txBody>
          <a:bodyPr wrap="square" rtlCol="0">
            <a:spAutoFit/>
          </a:bodyPr>
          <a:lstStyle/>
          <a:p>
            <a:r>
              <a:rPr lang="en-US" sz="2000"/>
              <a:t>dt</a:t>
            </a:r>
          </a:p>
        </p:txBody>
      </p:sp>
      <p:sp>
        <p:nvSpPr>
          <p:cNvPr id="32" name="Text Placeholder 2">
            <a:extLst>
              <a:ext uri="{FF2B5EF4-FFF2-40B4-BE49-F238E27FC236}">
                <a16:creationId xmlns:a16="http://schemas.microsoft.com/office/drawing/2014/main" id="{2CDB4638-774C-8D08-61F2-4394DE3389BC}"/>
              </a:ext>
            </a:extLst>
          </p:cNvPr>
          <p:cNvSpPr txBox="1">
            <a:spLocks/>
          </p:cNvSpPr>
          <p:nvPr/>
        </p:nvSpPr>
        <p:spPr>
          <a:xfrm>
            <a:off x="620708" y="1670681"/>
            <a:ext cx="7395949" cy="17415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 Start with cost map at time t</a:t>
            </a:r>
          </a:p>
          <a:p>
            <a:pPr marL="149860" indent="-149860">
              <a:buFont typeface="Wingdings" panose="05000000000000000000" pitchFamily="2" charset="2"/>
              <a:buChar char="Ø"/>
            </a:pPr>
            <a:r>
              <a:rPr lang="en-US" sz="2000">
                <a:latin typeface="Arial"/>
                <a:cs typeface="Arial"/>
              </a:rPr>
              <a:t> Apply A*</a:t>
            </a:r>
          </a:p>
          <a:p>
            <a:pPr marL="0" indent="0">
              <a:buNone/>
            </a:pPr>
            <a:endParaRPr lang="en-US" sz="2000">
              <a:latin typeface="Arial"/>
              <a:cs typeface="Arial"/>
            </a:endParaRPr>
          </a:p>
          <a:p>
            <a:pPr marL="149860" indent="-149860">
              <a:buFont typeface="Wingdings" panose="05000000000000000000" pitchFamily="2" charset="2"/>
              <a:buChar char="Ø"/>
            </a:pPr>
            <a:r>
              <a:rPr lang="en-US" sz="2000">
                <a:latin typeface="Arial"/>
                <a:cs typeface="Arial"/>
              </a:rPr>
              <a:t> Update position of the robot</a:t>
            </a:r>
          </a:p>
          <a:p>
            <a:pPr marL="149860" indent="-149860">
              <a:buFont typeface="Wingdings" panose="05000000000000000000" pitchFamily="2" charset="2"/>
              <a:buChar char="Ø"/>
            </a:pPr>
            <a:r>
              <a:rPr lang="en-US" sz="2000">
                <a:latin typeface="Arial"/>
                <a:cs typeface="Arial"/>
              </a:rPr>
              <a:t> Update position of the Obstacles</a:t>
            </a:r>
          </a:p>
        </p:txBody>
      </p:sp>
      <p:cxnSp>
        <p:nvCxnSpPr>
          <p:cNvPr id="37" name="Connector: Curved 36">
            <a:extLst>
              <a:ext uri="{FF2B5EF4-FFF2-40B4-BE49-F238E27FC236}">
                <a16:creationId xmlns:a16="http://schemas.microsoft.com/office/drawing/2014/main" id="{1D2D8ADA-B75E-C276-920E-B0FD7EF07306}"/>
              </a:ext>
            </a:extLst>
          </p:cNvPr>
          <p:cNvCxnSpPr>
            <a:cxnSpLocks/>
          </p:cNvCxnSpPr>
          <p:nvPr/>
        </p:nvCxnSpPr>
        <p:spPr>
          <a:xfrm rot="16200000" flipV="1">
            <a:off x="4069223" y="2490794"/>
            <a:ext cx="1528071" cy="348342"/>
          </a:xfrm>
          <a:prstGeom prst="curvedConnector3">
            <a:avLst>
              <a:gd name="adj1" fmla="val 102004"/>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2" name="Flowchart: Data 51">
            <a:extLst>
              <a:ext uri="{FF2B5EF4-FFF2-40B4-BE49-F238E27FC236}">
                <a16:creationId xmlns:a16="http://schemas.microsoft.com/office/drawing/2014/main" id="{1D7FA8EE-AE84-5690-957F-0728DC7A03FD}"/>
              </a:ext>
            </a:extLst>
          </p:cNvPr>
          <p:cNvSpPr/>
          <p:nvPr/>
        </p:nvSpPr>
        <p:spPr>
          <a:xfrm rot="917777" flipH="1">
            <a:off x="3504105" y="4181393"/>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3" name="Flowchart: Data 52">
            <a:extLst>
              <a:ext uri="{FF2B5EF4-FFF2-40B4-BE49-F238E27FC236}">
                <a16:creationId xmlns:a16="http://schemas.microsoft.com/office/drawing/2014/main" id="{552BA22E-D418-53B8-7DEA-8CA05C47A4C8}"/>
              </a:ext>
            </a:extLst>
          </p:cNvPr>
          <p:cNvSpPr/>
          <p:nvPr/>
        </p:nvSpPr>
        <p:spPr>
          <a:xfrm rot="917777" flipH="1">
            <a:off x="3252133" y="4270458"/>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4" name="Flowchart: Data 53">
            <a:extLst>
              <a:ext uri="{FF2B5EF4-FFF2-40B4-BE49-F238E27FC236}">
                <a16:creationId xmlns:a16="http://schemas.microsoft.com/office/drawing/2014/main" id="{6B8F1BD6-0A41-B19C-BC85-67A2180A02D8}"/>
              </a:ext>
            </a:extLst>
          </p:cNvPr>
          <p:cNvSpPr/>
          <p:nvPr/>
        </p:nvSpPr>
        <p:spPr>
          <a:xfrm rot="917777" flipH="1">
            <a:off x="2991897" y="4351179"/>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5" name="Flowchart: Data 54">
            <a:extLst>
              <a:ext uri="{FF2B5EF4-FFF2-40B4-BE49-F238E27FC236}">
                <a16:creationId xmlns:a16="http://schemas.microsoft.com/office/drawing/2014/main" id="{ACD4EAED-428A-6D24-D62A-9981B9CFA182}"/>
              </a:ext>
            </a:extLst>
          </p:cNvPr>
          <p:cNvSpPr/>
          <p:nvPr/>
        </p:nvSpPr>
        <p:spPr>
          <a:xfrm rot="917777" flipH="1">
            <a:off x="2708723" y="4433292"/>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6" name="Flowchart: Data 55">
            <a:extLst>
              <a:ext uri="{FF2B5EF4-FFF2-40B4-BE49-F238E27FC236}">
                <a16:creationId xmlns:a16="http://schemas.microsoft.com/office/drawing/2014/main" id="{23308B61-4EA2-E653-4523-4F283AB3534A}"/>
              </a:ext>
            </a:extLst>
          </p:cNvPr>
          <p:cNvSpPr/>
          <p:nvPr/>
        </p:nvSpPr>
        <p:spPr>
          <a:xfrm rot="917777" flipH="1">
            <a:off x="2456751" y="4522357"/>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7" name="Flowchart: Data 56">
            <a:extLst>
              <a:ext uri="{FF2B5EF4-FFF2-40B4-BE49-F238E27FC236}">
                <a16:creationId xmlns:a16="http://schemas.microsoft.com/office/drawing/2014/main" id="{C654C223-D06F-9946-C3BB-E46805F258BC}"/>
              </a:ext>
            </a:extLst>
          </p:cNvPr>
          <p:cNvSpPr/>
          <p:nvPr/>
        </p:nvSpPr>
        <p:spPr>
          <a:xfrm rot="917777" flipH="1">
            <a:off x="2196515" y="4603078"/>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8" name="Flowchart: Data 57">
            <a:extLst>
              <a:ext uri="{FF2B5EF4-FFF2-40B4-BE49-F238E27FC236}">
                <a16:creationId xmlns:a16="http://schemas.microsoft.com/office/drawing/2014/main" id="{69C6198C-69CD-78E9-190A-94EBA714BA95}"/>
              </a:ext>
            </a:extLst>
          </p:cNvPr>
          <p:cNvSpPr/>
          <p:nvPr/>
        </p:nvSpPr>
        <p:spPr>
          <a:xfrm rot="917777" flipH="1">
            <a:off x="1936278" y="4685190"/>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59" name="Flowchart: Data 58">
            <a:extLst>
              <a:ext uri="{FF2B5EF4-FFF2-40B4-BE49-F238E27FC236}">
                <a16:creationId xmlns:a16="http://schemas.microsoft.com/office/drawing/2014/main" id="{88D85640-B65C-B92D-DBBB-C5F72730E6D3}"/>
              </a:ext>
            </a:extLst>
          </p:cNvPr>
          <p:cNvSpPr/>
          <p:nvPr/>
        </p:nvSpPr>
        <p:spPr>
          <a:xfrm rot="917777" flipH="1">
            <a:off x="1684306" y="4774255"/>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60" name="Flowchart: Data 59">
            <a:extLst>
              <a:ext uri="{FF2B5EF4-FFF2-40B4-BE49-F238E27FC236}">
                <a16:creationId xmlns:a16="http://schemas.microsoft.com/office/drawing/2014/main" id="{BBC7F1C9-76C8-F2AF-5297-94DE3D87B305}"/>
              </a:ext>
            </a:extLst>
          </p:cNvPr>
          <p:cNvSpPr/>
          <p:nvPr/>
        </p:nvSpPr>
        <p:spPr>
          <a:xfrm rot="917777" flipH="1">
            <a:off x="1424070" y="4854976"/>
            <a:ext cx="2007858" cy="1594188"/>
          </a:xfrm>
          <a:prstGeom prst="flowChartInputOutput">
            <a:avLst/>
          </a:prstGeom>
          <a:solidFill>
            <a:schemeClr val="accent2">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ysClr val="windowText" lastClr="000000"/>
                </a:solidFill>
              </a:rPr>
              <a:t>Cost Map at time t=0</a:t>
            </a:r>
          </a:p>
          <a:p>
            <a:pPr algn="ctr"/>
            <a:r>
              <a:rPr lang="en-US">
                <a:solidFill>
                  <a:sysClr val="windowText" lastClr="000000"/>
                </a:solidFill>
              </a:rPr>
              <a:t>(current)</a:t>
            </a:r>
          </a:p>
        </p:txBody>
      </p:sp>
      <p:pic>
        <p:nvPicPr>
          <p:cNvPr id="61" name="580C7512">
            <a:hlinkClick r:id="" action="ppaction://media"/>
            <a:extLst>
              <a:ext uri="{FF2B5EF4-FFF2-40B4-BE49-F238E27FC236}">
                <a16:creationId xmlns:a16="http://schemas.microsoft.com/office/drawing/2014/main" id="{5EFA914A-9473-3A5C-EA64-3D436F759A55}"/>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031319" y="1670681"/>
            <a:ext cx="5400005" cy="4218754"/>
          </a:xfrm>
          <a:prstGeom prst="rect">
            <a:avLst/>
          </a:prstGeom>
        </p:spPr>
      </p:pic>
    </p:spTree>
    <p:extLst>
      <p:ext uri="{BB962C8B-B14F-4D97-AF65-F5344CB8AC3E}">
        <p14:creationId xmlns:p14="http://schemas.microsoft.com/office/powerpoint/2010/main" val="124798513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34" fill="hold"/>
                                        <p:tgtEl>
                                          <p:spTgt spid="6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1"/>
                                        </p:tgtEl>
                                      </p:cBhvr>
                                    </p:cmd>
                                  </p:childTnLst>
                                </p:cTn>
                              </p:par>
                            </p:childTnLst>
                          </p:cTn>
                        </p:par>
                      </p:childTnLst>
                    </p:cTn>
                  </p:par>
                </p:childTnLst>
              </p:cTn>
              <p:nextCondLst>
                <p:cond evt="onClick" delay="0">
                  <p:tgtEl>
                    <p:spTgt spid="61"/>
                  </p:tgtEl>
                </p:cond>
              </p:nextCondLst>
            </p:seq>
            <p:video>
              <p:cMediaNode vol="80000">
                <p:cTn id="12" fill="hold" display="0">
                  <p:stCondLst>
                    <p:cond delay="indefinite"/>
                  </p:stCondLst>
                </p:cTn>
                <p:tgtEl>
                  <p:spTgt spid="61"/>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800"/>
              <a:t>5.  Simulation</a:t>
            </a:r>
            <a:endParaRPr lang="en-US"/>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15</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280810" y="1262534"/>
            <a:ext cx="5964535" cy="4880879"/>
          </a:xfrm>
        </p:spPr>
        <p:txBody>
          <a:bodyPr vert="horz" lIns="121920" tIns="60960" rIns="121920" bIns="60960" rtlCol="0" anchor="t">
            <a:normAutofit/>
          </a:bodyPr>
          <a:lstStyle/>
          <a:p>
            <a:pPr marL="0" indent="0"/>
            <a:endParaRPr lang="en-US" sz="2400">
              <a:latin typeface="Arial"/>
              <a:cs typeface="Arial"/>
            </a:endParaRPr>
          </a:p>
          <a:p>
            <a:pPr marL="0" indent="0"/>
            <a:endParaRPr lang="en-US" sz="2400">
              <a:latin typeface="Arial"/>
              <a:cs typeface="Arial"/>
            </a:endParaRPr>
          </a:p>
          <a:p>
            <a:pPr marL="608965" indent="-608965"/>
            <a:endParaRPr lang="en-US" sz="2400">
              <a:latin typeface="Arial"/>
              <a:cs typeface="Arial"/>
            </a:endParaRPr>
          </a:p>
        </p:txBody>
      </p:sp>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CF6B218E-99E0-DB65-40F0-867E6D958360}"/>
                  </a:ext>
                </a:extLst>
              </p14:cNvPr>
              <p14:cNvContentPartPr/>
              <p14:nvPr/>
            </p14:nvContentPartPr>
            <p14:xfrm>
              <a:off x="13579523" y="5339687"/>
              <a:ext cx="17059" cy="17059"/>
            </p14:xfrm>
          </p:contentPart>
        </mc:Choice>
        <mc:Fallback xmlns="">
          <p:pic>
            <p:nvPicPr>
              <p:cNvPr id="14" name="Ink 13">
                <a:extLst>
                  <a:ext uri="{FF2B5EF4-FFF2-40B4-BE49-F238E27FC236}">
                    <a16:creationId xmlns:a16="http://schemas.microsoft.com/office/drawing/2014/main" id="{CF6B218E-99E0-DB65-40F0-867E6D958360}"/>
                  </a:ext>
                </a:extLst>
              </p:cNvPr>
              <p:cNvPicPr/>
              <p:nvPr/>
            </p:nvPicPr>
            <p:blipFill>
              <a:blip r:embed="rId10"/>
              <a:stretch>
                <a:fillRect/>
              </a:stretch>
            </p:blipFill>
            <p:spPr>
              <a:xfrm>
                <a:off x="12726573" y="4486737"/>
                <a:ext cx="1705900" cy="1705900"/>
              </a:xfrm>
              <a:prstGeom prst="rect">
                <a:avLst/>
              </a:prstGeom>
            </p:spPr>
          </p:pic>
        </mc:Fallback>
      </mc:AlternateContent>
      <p:sp>
        <p:nvSpPr>
          <p:cNvPr id="3" name="Text Placeholder 2">
            <a:extLst>
              <a:ext uri="{FF2B5EF4-FFF2-40B4-BE49-F238E27FC236}">
                <a16:creationId xmlns:a16="http://schemas.microsoft.com/office/drawing/2014/main" id="{C1C234D2-7507-F443-0C30-668E704AC97D}"/>
              </a:ext>
            </a:extLst>
          </p:cNvPr>
          <p:cNvSpPr txBox="1">
            <a:spLocks/>
          </p:cNvSpPr>
          <p:nvPr/>
        </p:nvSpPr>
        <p:spPr>
          <a:xfrm>
            <a:off x="308518" y="1065704"/>
            <a:ext cx="6660215" cy="6039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You can choose:</a:t>
            </a:r>
            <a:endParaRPr lang="en-US" sz="2000"/>
          </a:p>
        </p:txBody>
      </p:sp>
      <p:sp>
        <p:nvSpPr>
          <p:cNvPr id="6" name="Text Placeholder 2">
            <a:extLst>
              <a:ext uri="{FF2B5EF4-FFF2-40B4-BE49-F238E27FC236}">
                <a16:creationId xmlns:a16="http://schemas.microsoft.com/office/drawing/2014/main" id="{A5A3E62C-D2C2-0741-5131-4DA2B441348D}"/>
              </a:ext>
            </a:extLst>
          </p:cNvPr>
          <p:cNvSpPr txBox="1">
            <a:spLocks/>
          </p:cNvSpPr>
          <p:nvPr/>
        </p:nvSpPr>
        <p:spPr>
          <a:xfrm>
            <a:off x="620709" y="1601914"/>
            <a:ext cx="7395949" cy="1741519"/>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sz="2000">
                <a:latin typeface="Arial"/>
                <a:cs typeface="Arial"/>
              </a:rPr>
              <a:t>The resolution of the grid</a:t>
            </a:r>
          </a:p>
          <a:p>
            <a:pPr marL="149860" indent="-149860">
              <a:buFont typeface="Wingdings" panose="05000000000000000000" pitchFamily="2" charset="2"/>
              <a:buChar char="Ø"/>
            </a:pPr>
            <a:r>
              <a:rPr lang="en-US" sz="2000">
                <a:latin typeface="Arial"/>
                <a:cs typeface="Arial"/>
              </a:rPr>
              <a:t> The time between 2 updates</a:t>
            </a:r>
          </a:p>
          <a:p>
            <a:pPr marL="149860" indent="-149860">
              <a:buFont typeface="Wingdings" panose="05000000000000000000" pitchFamily="2" charset="2"/>
              <a:buChar char="Ø"/>
            </a:pPr>
            <a:r>
              <a:rPr lang="en-US" sz="2000">
                <a:latin typeface="Arial"/>
                <a:cs typeface="Arial"/>
              </a:rPr>
              <a:t> The simulation time</a:t>
            </a:r>
          </a:p>
          <a:p>
            <a:pPr marL="149860" indent="-149860">
              <a:buFont typeface="Wingdings" panose="05000000000000000000" pitchFamily="2" charset="2"/>
              <a:buChar char="Ø"/>
            </a:pPr>
            <a:r>
              <a:rPr lang="en-US" sz="2000">
                <a:latin typeface="Arial"/>
                <a:cs typeface="Arial"/>
              </a:rPr>
              <a:t> Can work independently</a:t>
            </a:r>
          </a:p>
          <a:p>
            <a:pPr marL="532967" lvl="1" indent="-149860">
              <a:buFont typeface="Wingdings" panose="05000000000000000000" pitchFamily="2" charset="2"/>
              <a:buChar char="Ø"/>
            </a:pPr>
            <a:r>
              <a:rPr lang="en-US" sz="2000">
                <a:latin typeface="Arial"/>
                <a:cs typeface="Arial"/>
              </a:rPr>
              <a:t> Can generate random obstacles</a:t>
            </a:r>
          </a:p>
        </p:txBody>
      </p:sp>
      <p:pic>
        <p:nvPicPr>
          <p:cNvPr id="7" name="580C7512">
            <a:hlinkClick r:id="" action="ppaction://media"/>
            <a:extLst>
              <a:ext uri="{FF2B5EF4-FFF2-40B4-BE49-F238E27FC236}">
                <a16:creationId xmlns:a16="http://schemas.microsoft.com/office/drawing/2014/main" id="{3EB0782E-043F-884A-3494-835B3A1C4B8A}"/>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932901" y="3674731"/>
            <a:ext cx="3846262" cy="3004892"/>
          </a:xfrm>
          <a:prstGeom prst="rect">
            <a:avLst/>
          </a:prstGeom>
        </p:spPr>
      </p:pic>
      <p:pic>
        <p:nvPicPr>
          <p:cNvPr id="9" name="BA4D8CAF">
            <a:hlinkClick r:id="" action="ppaction://media"/>
            <a:extLst>
              <a:ext uri="{FF2B5EF4-FFF2-40B4-BE49-F238E27FC236}">
                <a16:creationId xmlns:a16="http://schemas.microsoft.com/office/drawing/2014/main" id="{2C46A7AB-059B-3882-1F3D-A15AE3545A59}"/>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5869720" y="3660160"/>
            <a:ext cx="3864913" cy="3019463"/>
          </a:xfrm>
          <a:prstGeom prst="rect">
            <a:avLst/>
          </a:prstGeom>
        </p:spPr>
      </p:pic>
      <p:pic>
        <p:nvPicPr>
          <p:cNvPr id="16" name="8E9FE0BD">
            <a:hlinkClick r:id="" action="ppaction://media"/>
            <a:extLst>
              <a:ext uri="{FF2B5EF4-FFF2-40B4-BE49-F238E27FC236}">
                <a16:creationId xmlns:a16="http://schemas.microsoft.com/office/drawing/2014/main" id="{5E3B08ED-59BF-E287-6FF6-7FABE1A96870}"/>
              </a:ext>
            </a:extLst>
          </p:cNvPr>
          <p:cNvPicPr>
            <a:picLocks noChangeAspect="1"/>
          </p:cNvPicPr>
          <p:nvPr>
            <a:videoFile r:link="rId5"/>
            <p:extLst>
              <p:ext uri="{DAA4B4D4-6D71-4841-9C94-3DE7FCFB9230}">
                <p14:media xmlns:p14="http://schemas.microsoft.com/office/powerpoint/2010/main" r:embed="rId6">
                  <p14:trim end="58377"/>
                </p14:media>
              </p:ext>
            </p:extLst>
          </p:nvPr>
        </p:nvPicPr>
        <p:blipFill>
          <a:blip r:embed="rId13"/>
          <a:stretch>
            <a:fillRect/>
          </a:stretch>
        </p:blipFill>
        <p:spPr>
          <a:xfrm>
            <a:off x="5869720" y="333594"/>
            <a:ext cx="3864913" cy="3019464"/>
          </a:xfrm>
          <a:prstGeom prst="rect">
            <a:avLst/>
          </a:prstGeom>
        </p:spPr>
      </p:pic>
    </p:spTree>
    <p:extLst>
      <p:ext uri="{BB962C8B-B14F-4D97-AF65-F5344CB8AC3E}">
        <p14:creationId xmlns:p14="http://schemas.microsoft.com/office/powerpoint/2010/main" val="19158951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134"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6600" fill="hold"/>
                                        <p:tgtEl>
                                          <p:spTgt spid="9"/>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829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7"/>
                    </p:tgtEl>
                  </p:cond>
                </p:stCondLst>
                <p:endSync evt="end" delay="0">
                  <p:rtn val="all"/>
                </p:endSync>
                <p:childTnLst>
                  <p:par>
                    <p:cTn id="16" fill="hold">
                      <p:stCondLst>
                        <p:cond delay="0"/>
                      </p:stCondLst>
                      <p:childTnLst>
                        <p:par>
                          <p:cTn id="17" fill="hold">
                            <p:stCondLst>
                              <p:cond delay="0"/>
                            </p:stCondLst>
                            <p:childTnLst>
                              <p:par>
                                <p:cTn id="18" presetID="2" presetClass="mediacall" presetSubtype="0" fill="hold" nodeType="clickEffect">
                                  <p:stCondLst>
                                    <p:cond delay="0"/>
                                  </p:stCondLst>
                                  <p:childTnLst>
                                    <p:cmd type="call" cmd="togglePause">
                                      <p:cBhvr>
                                        <p:cTn id="19" dur="1" fill="hold"/>
                                        <p:tgtEl>
                                          <p:spTgt spid="7"/>
                                        </p:tgtEl>
                                      </p:cBhvr>
                                    </p:cmd>
                                  </p:childTnLst>
                                </p:cTn>
                              </p:par>
                            </p:childTnLst>
                          </p:cTn>
                        </p:par>
                      </p:childTnLst>
                    </p:cTn>
                  </p:par>
                </p:childTnLst>
              </p:cTn>
              <p:nextCondLst>
                <p:cond evt="onClick" delay="0">
                  <p:tgtEl>
                    <p:spTgt spid="7"/>
                  </p:tgtEl>
                </p:cond>
              </p:nextCondLst>
            </p:seq>
            <p:video>
              <p:cMediaNode vol="80000">
                <p:cTn id="20" fill="hold" display="0">
                  <p:stCondLst>
                    <p:cond delay="indefinite"/>
                  </p:stCondLst>
                </p:cTn>
                <p:tgtEl>
                  <p:spTgt spid="7"/>
                </p:tgtEl>
              </p:cMediaNode>
            </p:video>
            <p:video>
              <p:cMediaNode vol="80000">
                <p:cTn id="21" fill="hold" display="0">
                  <p:stCondLst>
                    <p:cond delay="indefinite"/>
                  </p:stCondLst>
                </p:cTn>
                <p:tgtEl>
                  <p:spTgt spid="9"/>
                </p:tgtEl>
              </p:cMediaNode>
            </p:video>
            <p:seq concurrent="1" nextAc="seek">
              <p:cTn id="22" restart="whenNotActive" fill="hold" evtFilter="cancelBubble" nodeType="interactiveSeq">
                <p:stCondLst>
                  <p:cond evt="onClick" delay="0">
                    <p:tgtEl>
                      <p:spTgt spid="9"/>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9"/>
                                        </p:tgtEl>
                                      </p:cBhvr>
                                    </p:cmd>
                                  </p:childTnLst>
                                </p:cTn>
                              </p:par>
                            </p:childTnLst>
                          </p:cTn>
                        </p:par>
                      </p:childTnLst>
                    </p:cTn>
                  </p:par>
                </p:childTnLst>
              </p:cTn>
              <p:nextCondLst>
                <p:cond evt="onClick" delay="0">
                  <p:tgtEl>
                    <p:spTgt spid="9"/>
                  </p:tgtEl>
                </p:cond>
              </p:nextCondLst>
            </p:seq>
            <p:video>
              <p:cMediaNode vol="80000">
                <p:cTn id="27" fill="hold" display="0">
                  <p:stCondLst>
                    <p:cond delay="indefinite"/>
                  </p:stCondLst>
                </p:cTn>
                <p:tgtEl>
                  <p:spTgt spid="16"/>
                </p:tgtEl>
              </p:cMediaNode>
            </p:video>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4800"/>
              <a:t>Putting it all Together</a:t>
            </a: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16</a:t>
            </a:fld>
            <a:endParaRPr lang="en-US"/>
          </a:p>
        </p:txBody>
      </p:sp>
      <p:pic>
        <p:nvPicPr>
          <p:cNvPr id="3" name="Picture 2">
            <a:extLst>
              <a:ext uri="{FF2B5EF4-FFF2-40B4-BE49-F238E27FC236}">
                <a16:creationId xmlns:a16="http://schemas.microsoft.com/office/drawing/2014/main" id="{4BE457F0-6334-6CDB-2BFD-3A1AAA913C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2901" y="1432592"/>
            <a:ext cx="4157583" cy="4157583"/>
          </a:xfrm>
          <a:prstGeom prst="rect">
            <a:avLst/>
          </a:prstGeom>
        </p:spPr>
      </p:pic>
      <p:pic>
        <p:nvPicPr>
          <p:cNvPr id="5" name="BA4D8CAF">
            <a:hlinkClick r:id="" action="ppaction://media"/>
            <a:extLst>
              <a:ext uri="{FF2B5EF4-FFF2-40B4-BE49-F238E27FC236}">
                <a16:creationId xmlns:a16="http://schemas.microsoft.com/office/drawing/2014/main" id="{EAEA02FA-7720-C16D-B52B-BCE88891DE28}"/>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857020" y="1371723"/>
            <a:ext cx="5477534" cy="4279323"/>
          </a:xfrm>
          <a:prstGeom prst="rect">
            <a:avLst/>
          </a:prstGeom>
        </p:spPr>
      </p:pic>
      <p:sp>
        <p:nvSpPr>
          <p:cNvPr id="6" name="Text Placeholder 2">
            <a:extLst>
              <a:ext uri="{FF2B5EF4-FFF2-40B4-BE49-F238E27FC236}">
                <a16:creationId xmlns:a16="http://schemas.microsoft.com/office/drawing/2014/main" id="{71877AFE-4F23-452B-1C14-6ACA69C0487D}"/>
              </a:ext>
            </a:extLst>
          </p:cNvPr>
          <p:cNvSpPr txBox="1">
            <a:spLocks/>
          </p:cNvSpPr>
          <p:nvPr/>
        </p:nvSpPr>
        <p:spPr>
          <a:xfrm>
            <a:off x="2537267" y="5704723"/>
            <a:ext cx="948849" cy="6039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Input</a:t>
            </a:r>
            <a:endParaRPr lang="en-US" sz="2000"/>
          </a:p>
        </p:txBody>
      </p:sp>
      <p:sp>
        <p:nvSpPr>
          <p:cNvPr id="7" name="Text Placeholder 2">
            <a:extLst>
              <a:ext uri="{FF2B5EF4-FFF2-40B4-BE49-F238E27FC236}">
                <a16:creationId xmlns:a16="http://schemas.microsoft.com/office/drawing/2014/main" id="{AA9D921D-7D4B-3C42-0C5E-06472AFB503E}"/>
              </a:ext>
            </a:extLst>
          </p:cNvPr>
          <p:cNvSpPr txBox="1">
            <a:spLocks/>
          </p:cNvSpPr>
          <p:nvPr/>
        </p:nvSpPr>
        <p:spPr>
          <a:xfrm>
            <a:off x="7581900" y="5736196"/>
            <a:ext cx="2453511" cy="603981"/>
          </a:xfrm>
          <a:prstGeom prst="rect">
            <a:avLst/>
          </a:prstGeom>
        </p:spPr>
        <p:txBody>
          <a:bodyPr vert="horz" lIns="121920" tIns="60960" rIns="121920" bIns="60960" rtlCol="0" anchor="t">
            <a:noAutofit/>
          </a:bodyPr>
          <a:lstStyle>
            <a:lvl1pPr marL="150280" indent="-150280" algn="l" defTabSz="914400" rtl="0" eaLnBrk="1" latinLnBrk="0" hangingPunct="1">
              <a:lnSpc>
                <a:spcPct val="90000"/>
              </a:lnSpc>
              <a:spcBef>
                <a:spcPts val="1000"/>
              </a:spcBef>
              <a:buFont typeface="Arial" panose="020B0604020202020204" pitchFamily="34" charset="0"/>
              <a:buChar char="•"/>
              <a:defRPr sz="1867" kern="1200">
                <a:solidFill>
                  <a:schemeClr val="tx2">
                    <a:lumMod val="50000"/>
                  </a:schemeClr>
                </a:solidFill>
                <a:latin typeface="Arial" panose="020B0604020202020204" pitchFamily="34" charset="0"/>
                <a:ea typeface="+mn-ea"/>
                <a:cs typeface="Arial" panose="020B0604020202020204" pitchFamily="34" charset="0"/>
              </a:defRPr>
            </a:lvl1pPr>
            <a:lvl2pPr marL="533387" indent="-232828"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2pPr>
            <a:lvl3pPr marL="986342" indent="-220128" algn="l" defTabSz="914400" rtl="0" eaLnBrk="1" latinLnBrk="0" hangingPunct="1">
              <a:lnSpc>
                <a:spcPct val="90000"/>
              </a:lnSpc>
              <a:spcBef>
                <a:spcPts val="500"/>
              </a:spcBef>
              <a:buFont typeface="Arial" panose="020B0604020202020204" pitchFamily="34" charset="0"/>
              <a:buChar char="•"/>
              <a:defRPr sz="1467" kern="1200">
                <a:solidFill>
                  <a:schemeClr val="tx2">
                    <a:lumMod val="50000"/>
                  </a:schemeClr>
                </a:solidFill>
                <a:latin typeface="Arial" panose="020B0604020202020204" pitchFamily="34" charset="0"/>
                <a:ea typeface="+mn-ea"/>
                <a:cs typeface="Arial" panose="020B0604020202020204" pitchFamily="34" charset="0"/>
              </a:defRPr>
            </a:lvl3pPr>
            <a:lvl4pPr marL="1451997" indent="-315376" algn="l" defTabSz="914400" rtl="0" eaLnBrk="1" latinLnBrk="0" hangingPunct="1">
              <a:lnSpc>
                <a:spcPct val="90000"/>
              </a:lnSpc>
              <a:spcBef>
                <a:spcPts val="500"/>
              </a:spcBef>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latin typeface="Arial"/>
                <a:cs typeface="Arial"/>
              </a:rPr>
              <a:t>Graphical output</a:t>
            </a:r>
            <a:endParaRPr lang="en-US" sz="2000"/>
          </a:p>
        </p:txBody>
      </p:sp>
    </p:spTree>
    <p:extLst>
      <p:ext uri="{BB962C8B-B14F-4D97-AF65-F5344CB8AC3E}">
        <p14:creationId xmlns:p14="http://schemas.microsoft.com/office/powerpoint/2010/main" val="32714169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49AF-FB5E-DE71-0C7D-AEEC2DD613AD}"/>
              </a:ext>
            </a:extLst>
          </p:cNvPr>
          <p:cNvSpPr>
            <a:spLocks noGrp="1"/>
          </p:cNvSpPr>
          <p:nvPr>
            <p:ph type="title"/>
          </p:nvPr>
        </p:nvSpPr>
        <p:spPr>
          <a:xfrm>
            <a:off x="310817" y="370836"/>
            <a:ext cx="11630733" cy="603981"/>
          </a:xfrm>
        </p:spPr>
        <p:txBody>
          <a:bodyPr/>
          <a:lstStyle/>
          <a:p>
            <a:r>
              <a:rPr lang="en-US" sz="4800"/>
              <a:t>Way Forward and Next Steps</a:t>
            </a:r>
            <a:r>
              <a:rPr lang="en-US" sz="4800" dirty="0"/>
              <a:t> Pt 1</a:t>
            </a:r>
            <a:endParaRPr lang="en-US" sz="4800"/>
          </a:p>
        </p:txBody>
      </p:sp>
      <p:sp>
        <p:nvSpPr>
          <p:cNvPr id="3" name="Text Placeholder 2">
            <a:extLst>
              <a:ext uri="{FF2B5EF4-FFF2-40B4-BE49-F238E27FC236}">
                <a16:creationId xmlns:a16="http://schemas.microsoft.com/office/drawing/2014/main" id="{4C29B2F6-A633-F432-50CD-3951CBF76AFE}"/>
              </a:ext>
            </a:extLst>
          </p:cNvPr>
          <p:cNvSpPr>
            <a:spLocks noGrp="1"/>
          </p:cNvSpPr>
          <p:nvPr>
            <p:ph type="body" sz="quarter" idx="10"/>
          </p:nvPr>
        </p:nvSpPr>
        <p:spPr>
          <a:xfrm>
            <a:off x="213125" y="1029696"/>
            <a:ext cx="11229263" cy="4880879"/>
          </a:xfrm>
        </p:spPr>
        <p:txBody>
          <a:bodyPr vert="horz" lIns="121920" tIns="60960" rIns="121920" bIns="60960" rtlCol="0" anchor="t">
            <a:noAutofit/>
          </a:bodyPr>
          <a:lstStyle/>
          <a:p>
            <a:pPr marL="757555" lvl="1" indent="-457200">
              <a:buAutoNum type="arabicPeriod"/>
            </a:pPr>
            <a:r>
              <a:rPr lang="en-US" sz="2000" dirty="0">
                <a:latin typeface="Arial"/>
                <a:cs typeface="Arial"/>
              </a:rPr>
              <a:t>Use a depth camera</a:t>
            </a:r>
            <a:endParaRPr lang="en-US" sz="2000" dirty="0">
              <a:solidFill>
                <a:srgbClr val="000000"/>
              </a:solidFill>
              <a:latin typeface="Arial"/>
              <a:cs typeface="Arial"/>
            </a:endParaRPr>
          </a:p>
          <a:p>
            <a:pPr marL="1210945" lvl="2" indent="-219710">
              <a:buFont typeface="Wingdings" panose="020B0604020202020204" pitchFamily="34" charset="0"/>
              <a:buChar char="§"/>
            </a:pPr>
            <a:r>
              <a:rPr lang="en-US" sz="1850" dirty="0">
                <a:latin typeface="Arial"/>
                <a:cs typeface="Arial"/>
              </a:rPr>
              <a:t>Integrate depth inputs into our inputs for accurate x position and y depth position so no need for depth calibration step of our code anymore</a:t>
            </a:r>
          </a:p>
          <a:p>
            <a:pPr marL="1210945" lvl="2" indent="-219710">
              <a:buFont typeface="Wingdings" panose="020B0604020202020204" pitchFamily="34" charset="0"/>
              <a:buChar char="§"/>
            </a:pPr>
            <a:endParaRPr lang="en-US" sz="1850" dirty="0">
              <a:latin typeface="Arial"/>
              <a:cs typeface="Arial"/>
            </a:endParaRPr>
          </a:p>
          <a:p>
            <a:pPr marL="757555" lvl="1" indent="-457200">
              <a:buAutoNum type="arabicPeriod"/>
            </a:pPr>
            <a:r>
              <a:rPr lang="en-US" sz="2000" dirty="0">
                <a:latin typeface="Arial"/>
                <a:cs typeface="Arial"/>
              </a:rPr>
              <a:t>Integrate our simulation with real time images to simulate camera readings </a:t>
            </a:r>
            <a:endParaRPr lang="en-US" sz="2000" dirty="0">
              <a:solidFill>
                <a:srgbClr val="000000"/>
              </a:solidFill>
              <a:latin typeface="Arial"/>
              <a:cs typeface="Arial"/>
            </a:endParaRPr>
          </a:p>
          <a:p>
            <a:pPr marL="1210945" lvl="2" indent="-219710">
              <a:buFont typeface="Wingdings"/>
              <a:buChar char="§"/>
            </a:pPr>
            <a:r>
              <a:rPr lang="en-US" sz="1850" dirty="0">
                <a:solidFill>
                  <a:srgbClr val="071420"/>
                </a:solidFill>
                <a:latin typeface="Arial"/>
                <a:cs typeface="Arial"/>
              </a:rPr>
              <a:t>Integrate continuous data input into the simulation</a:t>
            </a:r>
            <a:endParaRPr lang="en-US" sz="1850" dirty="0">
              <a:solidFill>
                <a:srgbClr val="071420"/>
              </a:solidFill>
            </a:endParaRPr>
          </a:p>
          <a:p>
            <a:pPr marL="1210945" lvl="2" indent="-219710">
              <a:buFont typeface="Wingdings"/>
              <a:buChar char="§"/>
            </a:pPr>
            <a:r>
              <a:rPr lang="en-US" sz="1850" dirty="0">
                <a:solidFill>
                  <a:srgbClr val="071420"/>
                </a:solidFill>
                <a:latin typeface="Arial"/>
                <a:cs typeface="Arial"/>
              </a:rPr>
              <a:t>Consider A* with </a:t>
            </a:r>
            <a:r>
              <a:rPr lang="en-US" sz="1850" b="1" dirty="0">
                <a:solidFill>
                  <a:srgbClr val="071420"/>
                </a:solidFill>
                <a:latin typeface="Arial"/>
                <a:cs typeface="Arial"/>
              </a:rPr>
              <a:t>non-predictive</a:t>
            </a:r>
            <a:r>
              <a:rPr lang="en-US" sz="1850" dirty="0">
                <a:solidFill>
                  <a:srgbClr val="071420"/>
                </a:solidFill>
                <a:latin typeface="Arial"/>
                <a:cs typeface="Arial"/>
              </a:rPr>
              <a:t> obstacle positions and see if A* is able to provide paths around the obstacles</a:t>
            </a:r>
            <a:endParaRPr lang="en-US" sz="1850" dirty="0">
              <a:solidFill>
                <a:srgbClr val="071420"/>
              </a:solidFill>
            </a:endParaRPr>
          </a:p>
          <a:p>
            <a:pPr marL="1210945" lvl="2" indent="-219710">
              <a:buFont typeface="Wingdings" panose="020B0604020202020204" pitchFamily="34" charset="0"/>
              <a:buChar char="§"/>
            </a:pPr>
            <a:r>
              <a:rPr lang="en-US" sz="1850" b="1" dirty="0">
                <a:solidFill>
                  <a:srgbClr val="071420"/>
                </a:solidFill>
                <a:latin typeface="Arial"/>
                <a:cs typeface="Arial"/>
              </a:rPr>
              <a:t>Develop the Speed algorithm: Exploration</a:t>
            </a:r>
            <a:endParaRPr lang="en-US" sz="1850" dirty="0">
              <a:solidFill>
                <a:srgbClr val="071420"/>
              </a:solidFill>
            </a:endParaRPr>
          </a:p>
          <a:p>
            <a:pPr marL="1676400" lvl="3" indent="-314960"/>
            <a:r>
              <a:rPr lang="en-US" sz="2000" dirty="0">
                <a:solidFill>
                  <a:srgbClr val="071420"/>
                </a:solidFill>
                <a:latin typeface="Arial"/>
                <a:cs typeface="Arial"/>
              </a:rPr>
              <a:t>Given video, and taking multi-frame inputs(perhaps the simulation is regenerated every 2 seconds, we can take 20 screenshots) to predict speed</a:t>
            </a:r>
            <a:endParaRPr lang="en-US" sz="2000" b="1" dirty="0">
              <a:solidFill>
                <a:srgbClr val="071420"/>
              </a:solidFill>
            </a:endParaRPr>
          </a:p>
          <a:p>
            <a:pPr marL="1676400" lvl="3" indent="-314960"/>
            <a:r>
              <a:rPr lang="en-US" sz="2000" dirty="0">
                <a:solidFill>
                  <a:srgbClr val="071420"/>
                </a:solidFill>
                <a:latin typeface="Arial"/>
                <a:cs typeface="Arial"/>
              </a:rPr>
              <a:t>Or take that center </a:t>
            </a:r>
            <a:r>
              <a:rPr lang="en-US" sz="2000" dirty="0" err="1">
                <a:solidFill>
                  <a:srgbClr val="071420"/>
                </a:solidFill>
                <a:latin typeface="Arial"/>
                <a:cs typeface="Arial"/>
              </a:rPr>
              <a:t>keypoint</a:t>
            </a:r>
            <a:r>
              <a:rPr lang="en-US" sz="2000" dirty="0">
                <a:solidFill>
                  <a:srgbClr val="071420"/>
                </a:solidFill>
                <a:latin typeface="Arial"/>
                <a:cs typeface="Arial"/>
              </a:rPr>
              <a:t> that we use for plotting obstacle position and tracking it across video to predict speed</a:t>
            </a:r>
          </a:p>
          <a:p>
            <a:pPr marL="900030" lvl="1" indent="-457200">
              <a:buAutoNum type="arabicPeriod" startAt="3"/>
            </a:pPr>
            <a:r>
              <a:rPr lang="en-US" sz="2000" dirty="0">
                <a:solidFill>
                  <a:srgbClr val="071420"/>
                </a:solidFill>
                <a:latin typeface="Arial"/>
                <a:cs typeface="Arial"/>
              </a:rPr>
              <a:t>Reduce the computation time:</a:t>
            </a:r>
          </a:p>
          <a:p>
            <a:pPr marL="1238685" lvl="2" indent="-342900"/>
            <a:r>
              <a:rPr lang="en-US" sz="1867" dirty="0">
                <a:solidFill>
                  <a:srgbClr val="071420"/>
                </a:solidFill>
                <a:latin typeface="Arial"/>
                <a:cs typeface="Arial"/>
              </a:rPr>
              <a:t>Use </a:t>
            </a:r>
            <a:r>
              <a:rPr lang="en-US" sz="1867" dirty="0" err="1">
                <a:solidFill>
                  <a:srgbClr val="071420"/>
                </a:solidFill>
                <a:latin typeface="Arial"/>
                <a:cs typeface="Arial"/>
              </a:rPr>
              <a:t>Numpy</a:t>
            </a:r>
            <a:r>
              <a:rPr lang="en-US" sz="1867" dirty="0">
                <a:solidFill>
                  <a:srgbClr val="071420"/>
                </a:solidFill>
                <a:latin typeface="Arial"/>
                <a:cs typeface="Arial"/>
              </a:rPr>
              <a:t> to replace the for loop</a:t>
            </a:r>
          </a:p>
          <a:p>
            <a:pPr marL="1238685" lvl="2" indent="-342900"/>
            <a:r>
              <a:rPr lang="en-US" sz="1867" dirty="0">
                <a:solidFill>
                  <a:srgbClr val="071420"/>
                </a:solidFill>
                <a:latin typeface="Arial"/>
                <a:cs typeface="Arial"/>
              </a:rPr>
              <a:t>Find the best set of simulations parameters (time between two updates, scale factor)</a:t>
            </a:r>
            <a:endParaRPr lang="en-US" sz="2134" dirty="0">
              <a:solidFill>
                <a:srgbClr val="071420"/>
              </a:solidFill>
              <a:latin typeface="Arial"/>
              <a:cs typeface="Arial"/>
            </a:endParaRPr>
          </a:p>
          <a:p>
            <a:pPr marL="1939290" lvl="4" indent="0">
              <a:buNone/>
            </a:pPr>
            <a:endParaRPr lang="en-US" sz="2000" dirty="0">
              <a:solidFill>
                <a:srgbClr val="071420"/>
              </a:solidFill>
            </a:endParaRPr>
          </a:p>
        </p:txBody>
      </p:sp>
      <p:sp>
        <p:nvSpPr>
          <p:cNvPr id="4" name="Slide Number Placeholder 3">
            <a:extLst>
              <a:ext uri="{FF2B5EF4-FFF2-40B4-BE49-F238E27FC236}">
                <a16:creationId xmlns:a16="http://schemas.microsoft.com/office/drawing/2014/main" id="{1347EEF3-E7D9-4D7C-CD2E-F235972F5535}"/>
              </a:ext>
            </a:extLst>
          </p:cNvPr>
          <p:cNvSpPr>
            <a:spLocks noGrp="1"/>
          </p:cNvSpPr>
          <p:nvPr>
            <p:ph type="sldNum" sz="quarter" idx="2"/>
          </p:nvPr>
        </p:nvSpPr>
        <p:spPr/>
        <p:txBody>
          <a:bodyPr/>
          <a:lstStyle/>
          <a:p>
            <a:fld id="{86CB4B4D-7CA3-9044-876B-883B54F8677D}" type="slidenum">
              <a:rPr lang="en-US" smtClean="0"/>
              <a:pPr/>
              <a:t>17</a:t>
            </a:fld>
            <a:endParaRPr lang="en-US"/>
          </a:p>
        </p:txBody>
      </p:sp>
    </p:spTree>
    <p:extLst>
      <p:ext uri="{BB962C8B-B14F-4D97-AF65-F5344CB8AC3E}">
        <p14:creationId xmlns:p14="http://schemas.microsoft.com/office/powerpoint/2010/main" val="422278876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49AF-FB5E-DE71-0C7D-AEEC2DD613AD}"/>
              </a:ext>
            </a:extLst>
          </p:cNvPr>
          <p:cNvSpPr>
            <a:spLocks noGrp="1"/>
          </p:cNvSpPr>
          <p:nvPr>
            <p:ph type="title"/>
          </p:nvPr>
        </p:nvSpPr>
        <p:spPr>
          <a:xfrm>
            <a:off x="310817" y="370836"/>
            <a:ext cx="11630733" cy="603981"/>
          </a:xfrm>
        </p:spPr>
        <p:txBody>
          <a:bodyPr/>
          <a:lstStyle/>
          <a:p>
            <a:r>
              <a:rPr lang="en-US" sz="4800" dirty="0"/>
              <a:t>Way Forward and Next Steps Pt 2</a:t>
            </a:r>
          </a:p>
        </p:txBody>
      </p:sp>
      <p:sp>
        <p:nvSpPr>
          <p:cNvPr id="3" name="Text Placeholder 2">
            <a:extLst>
              <a:ext uri="{FF2B5EF4-FFF2-40B4-BE49-F238E27FC236}">
                <a16:creationId xmlns:a16="http://schemas.microsoft.com/office/drawing/2014/main" id="{4C29B2F6-A633-F432-50CD-3951CBF76AFE}"/>
              </a:ext>
            </a:extLst>
          </p:cNvPr>
          <p:cNvSpPr>
            <a:spLocks noGrp="1"/>
          </p:cNvSpPr>
          <p:nvPr>
            <p:ph type="body" sz="quarter" idx="10"/>
          </p:nvPr>
        </p:nvSpPr>
        <p:spPr>
          <a:xfrm>
            <a:off x="2110" y="818681"/>
            <a:ext cx="11229263" cy="4880879"/>
          </a:xfrm>
        </p:spPr>
        <p:txBody>
          <a:bodyPr vert="horz" lIns="121920" tIns="60960" rIns="121920" bIns="60960" rtlCol="0" anchor="t">
            <a:noAutofit/>
          </a:bodyPr>
          <a:lstStyle/>
          <a:p>
            <a:pPr marL="300355" lvl="1" indent="0">
              <a:buNone/>
            </a:pPr>
            <a:endParaRPr lang="en-US" sz="2000" dirty="0">
              <a:latin typeface="Arial"/>
              <a:cs typeface="Arial"/>
            </a:endParaRPr>
          </a:p>
          <a:p>
            <a:pPr marL="300355" lvl="1" indent="0">
              <a:buNone/>
            </a:pPr>
            <a:r>
              <a:rPr lang="en-US" sz="2000" dirty="0">
                <a:latin typeface="Arial"/>
                <a:cs typeface="Arial"/>
              </a:rPr>
              <a:t>4.	Exploration of more optimal models for direction distinction and path finding.</a:t>
            </a:r>
          </a:p>
          <a:p>
            <a:pPr marL="1096645" lvl="2" indent="-219710"/>
            <a:r>
              <a:rPr lang="en-US" sz="2000" dirty="0">
                <a:latin typeface="Arial"/>
                <a:cs typeface="Arial"/>
              </a:rPr>
              <a:t>Direction Models</a:t>
            </a:r>
          </a:p>
          <a:p>
            <a:pPr marL="1562100" lvl="3" indent="-314960"/>
            <a:r>
              <a:rPr lang="en-US" sz="2000" dirty="0">
                <a:latin typeface="Arial"/>
                <a:cs typeface="Arial"/>
              </a:rPr>
              <a:t>Train a model that can provide the direction the person obstacle is facing with angle between 0 and 360 degrees.</a:t>
            </a:r>
            <a:endParaRPr lang="en-US" sz="2000" dirty="0">
              <a:solidFill>
                <a:srgbClr val="000000"/>
              </a:solidFill>
              <a:latin typeface="Arial"/>
              <a:cs typeface="Arial"/>
            </a:endParaRPr>
          </a:p>
          <a:p>
            <a:pPr marL="1562100" lvl="3" indent="-314960"/>
            <a:r>
              <a:rPr lang="en-US" sz="2000" dirty="0">
                <a:latin typeface="Arial"/>
                <a:cs typeface="Arial"/>
              </a:rPr>
              <a:t>Areas of possible exploration:</a:t>
            </a:r>
            <a:endParaRPr lang="en-US" sz="2000" dirty="0">
              <a:solidFill>
                <a:srgbClr val="000000"/>
              </a:solidFill>
              <a:latin typeface="Arial"/>
              <a:cs typeface="Arial"/>
            </a:endParaRPr>
          </a:p>
          <a:p>
            <a:pPr marL="2167890" lvl="4"/>
            <a:r>
              <a:rPr lang="en-US" sz="2000" dirty="0">
                <a:latin typeface="Arial"/>
                <a:cs typeface="Arial"/>
              </a:rPr>
              <a:t>MLP: multi-layer perceptron, Decision Trees</a:t>
            </a:r>
            <a:endParaRPr lang="en-US" sz="2000" dirty="0">
              <a:solidFill>
                <a:srgbClr val="000000"/>
              </a:solidFill>
              <a:latin typeface="Arial"/>
              <a:cs typeface="Arial"/>
            </a:endParaRPr>
          </a:p>
          <a:p>
            <a:pPr marL="1096645" lvl="2" indent="-219710"/>
            <a:r>
              <a:rPr lang="en-US" sz="2000" dirty="0">
                <a:solidFill>
                  <a:srgbClr val="071420"/>
                </a:solidFill>
                <a:latin typeface="Arial"/>
                <a:cs typeface="Arial"/>
              </a:rPr>
              <a:t>Path </a:t>
            </a:r>
            <a:r>
              <a:rPr lang="en-US" sz="2000" dirty="0">
                <a:latin typeface="Arial"/>
                <a:cs typeface="Arial"/>
              </a:rPr>
              <a:t>Finding Algorithms</a:t>
            </a:r>
          </a:p>
          <a:p>
            <a:pPr marL="1562100" lvl="3" indent="-342900"/>
            <a:r>
              <a:rPr lang="en-US" sz="2000" dirty="0">
                <a:latin typeface="Arial"/>
                <a:cs typeface="Arial"/>
              </a:rPr>
              <a:t>Option 1: Modify current A*</a:t>
            </a:r>
            <a:endParaRPr lang="en-US" sz="2000" dirty="0">
              <a:solidFill>
                <a:srgbClr val="071420"/>
              </a:solidFill>
              <a:latin typeface="Arial"/>
              <a:cs typeface="Arial"/>
            </a:endParaRPr>
          </a:p>
          <a:p>
            <a:pPr marL="2167890" lvl="4"/>
            <a:r>
              <a:rPr lang="en-US" sz="2000" dirty="0">
                <a:solidFill>
                  <a:srgbClr val="071420"/>
                </a:solidFill>
                <a:latin typeface="Arial"/>
                <a:cs typeface="Arial"/>
              </a:rPr>
              <a:t>Implement time-based A*: </a:t>
            </a:r>
            <a:r>
              <a:rPr lang="en-US" sz="2000" dirty="0">
                <a:solidFill>
                  <a:srgbClr val="000000"/>
                </a:solidFill>
                <a:latin typeface="Arial"/>
                <a:cs typeface="Arial"/>
              </a:rPr>
              <a:t>Take into consideration future predictive location of obstacles before that time step is reached. Current model only takes into consideration current location of obstacles.</a:t>
            </a:r>
            <a:endParaRPr lang="en-US" dirty="0"/>
          </a:p>
          <a:p>
            <a:pPr marL="1562100" lvl="3" indent="-314960"/>
            <a:r>
              <a:rPr lang="en-US" sz="2000" dirty="0">
                <a:latin typeface="Arial"/>
                <a:cs typeface="Arial"/>
              </a:rPr>
              <a:t>Option 2: Explore alternative heuristics</a:t>
            </a:r>
            <a:endParaRPr lang="en-US" sz="2000" dirty="0"/>
          </a:p>
          <a:p>
            <a:pPr marL="2167890" lvl="4" indent="-314960"/>
            <a:r>
              <a:rPr lang="en-US" sz="2000" dirty="0">
                <a:latin typeface="Arial"/>
                <a:cs typeface="Arial"/>
              </a:rPr>
              <a:t>B</a:t>
            </a:r>
            <a:r>
              <a:rPr lang="en-US" sz="2000" dirty="0">
                <a:solidFill>
                  <a:srgbClr val="071420"/>
                </a:solidFill>
                <a:latin typeface="Arial"/>
                <a:cs typeface="Arial"/>
              </a:rPr>
              <a:t>eyond Euclidean distance: Ex: Chebyshev Distance metric, compare with more complex heuristics that take into account obstacle locations, add penalty for moving backwards away from goal position</a:t>
            </a:r>
            <a:endParaRPr lang="en-US" sz="2000" dirty="0"/>
          </a:p>
          <a:p>
            <a:pPr marL="1562100" lvl="3" indent="-314960"/>
            <a:r>
              <a:rPr lang="en-US" sz="2000" dirty="0">
                <a:solidFill>
                  <a:srgbClr val="071420"/>
                </a:solidFill>
                <a:latin typeface="Arial"/>
                <a:cs typeface="Arial"/>
              </a:rPr>
              <a:t>Option 3: Compare and time the different navigation algorithms</a:t>
            </a:r>
            <a:endParaRPr lang="en-US" sz="2000" dirty="0">
              <a:solidFill>
                <a:srgbClr val="071420"/>
              </a:solidFill>
            </a:endParaRPr>
          </a:p>
          <a:p>
            <a:pPr marL="2167890" lvl="4"/>
            <a:r>
              <a:rPr lang="en-US" sz="2000" dirty="0">
                <a:solidFill>
                  <a:srgbClr val="071420"/>
                </a:solidFill>
                <a:latin typeface="Arial"/>
                <a:cs typeface="Arial"/>
              </a:rPr>
              <a:t>Options to consider: D*, Dijkstra</a:t>
            </a:r>
            <a:endParaRPr lang="en-US" sz="2000" dirty="0">
              <a:solidFill>
                <a:srgbClr val="071420"/>
              </a:solidFill>
            </a:endParaRPr>
          </a:p>
          <a:p>
            <a:pPr marL="1562100" lvl="3" indent="-314960"/>
            <a:endParaRPr lang="en-US" sz="2000" dirty="0">
              <a:solidFill>
                <a:srgbClr val="071420"/>
              </a:solidFill>
            </a:endParaRPr>
          </a:p>
          <a:p>
            <a:pPr marL="2167890" lvl="4"/>
            <a:endParaRPr lang="en-US" sz="2000" dirty="0">
              <a:solidFill>
                <a:srgbClr val="071420"/>
              </a:solidFill>
            </a:endParaRPr>
          </a:p>
          <a:p>
            <a:pPr marL="1939290" lvl="4" indent="0">
              <a:buNone/>
            </a:pPr>
            <a:endParaRPr lang="en-US" sz="2000" dirty="0">
              <a:solidFill>
                <a:srgbClr val="071420"/>
              </a:solidFill>
            </a:endParaRPr>
          </a:p>
        </p:txBody>
      </p:sp>
      <p:sp>
        <p:nvSpPr>
          <p:cNvPr id="4" name="Slide Number Placeholder 3">
            <a:extLst>
              <a:ext uri="{FF2B5EF4-FFF2-40B4-BE49-F238E27FC236}">
                <a16:creationId xmlns:a16="http://schemas.microsoft.com/office/drawing/2014/main" id="{1347EEF3-E7D9-4D7C-CD2E-F235972F5535}"/>
              </a:ext>
            </a:extLst>
          </p:cNvPr>
          <p:cNvSpPr>
            <a:spLocks noGrp="1"/>
          </p:cNvSpPr>
          <p:nvPr>
            <p:ph type="sldNum" sz="quarter" idx="2"/>
          </p:nvPr>
        </p:nvSpPr>
        <p:spPr/>
        <p:txBody>
          <a:bodyPr/>
          <a:lstStyle/>
          <a:p>
            <a:fld id="{86CB4B4D-7CA3-9044-876B-883B54F8677D}" type="slidenum">
              <a:rPr lang="en-US" smtClean="0"/>
              <a:pPr/>
              <a:t>18</a:t>
            </a:fld>
            <a:endParaRPr lang="en-US"/>
          </a:p>
        </p:txBody>
      </p:sp>
    </p:spTree>
    <p:extLst>
      <p:ext uri="{BB962C8B-B14F-4D97-AF65-F5344CB8AC3E}">
        <p14:creationId xmlns:p14="http://schemas.microsoft.com/office/powerpoint/2010/main" val="186143950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49AF-FB5E-DE71-0C7D-AEEC2DD613AD}"/>
              </a:ext>
            </a:extLst>
          </p:cNvPr>
          <p:cNvSpPr>
            <a:spLocks noGrp="1"/>
          </p:cNvSpPr>
          <p:nvPr>
            <p:ph type="title"/>
          </p:nvPr>
        </p:nvSpPr>
        <p:spPr>
          <a:xfrm>
            <a:off x="310817" y="370836"/>
            <a:ext cx="11630733" cy="603981"/>
          </a:xfrm>
        </p:spPr>
        <p:txBody>
          <a:bodyPr/>
          <a:lstStyle/>
          <a:p>
            <a:r>
              <a:rPr lang="en-US" sz="4800"/>
              <a:t>Code Resources</a:t>
            </a:r>
            <a:endParaRPr lang="en-US"/>
          </a:p>
        </p:txBody>
      </p:sp>
      <p:sp>
        <p:nvSpPr>
          <p:cNvPr id="3" name="Text Placeholder 2">
            <a:extLst>
              <a:ext uri="{FF2B5EF4-FFF2-40B4-BE49-F238E27FC236}">
                <a16:creationId xmlns:a16="http://schemas.microsoft.com/office/drawing/2014/main" id="{4C29B2F6-A633-F432-50CD-3951CBF76AFE}"/>
              </a:ext>
            </a:extLst>
          </p:cNvPr>
          <p:cNvSpPr>
            <a:spLocks noGrp="1"/>
          </p:cNvSpPr>
          <p:nvPr>
            <p:ph type="body" sz="quarter" idx="10"/>
          </p:nvPr>
        </p:nvSpPr>
        <p:spPr>
          <a:xfrm>
            <a:off x="263925" y="1299479"/>
            <a:ext cx="11229263" cy="4880879"/>
          </a:xfrm>
        </p:spPr>
        <p:txBody>
          <a:bodyPr vert="horz" lIns="121920" tIns="60960" rIns="121920" bIns="60960" rtlCol="0" anchor="t">
            <a:normAutofit/>
          </a:bodyPr>
          <a:lstStyle/>
          <a:p>
            <a:pPr marL="532765" lvl="1" indent="-232410"/>
            <a:r>
              <a:rPr lang="en-US" sz="2000">
                <a:latin typeface="Arial"/>
                <a:cs typeface="Arial"/>
              </a:rPr>
              <a:t>Heuristics: </a:t>
            </a:r>
            <a:r>
              <a:rPr lang="en-US" sz="2000">
                <a:latin typeface="Arial"/>
                <a:cs typeface="Arial"/>
                <a:hlinkClick r:id="rId3"/>
              </a:rPr>
              <a:t>Heuristics (stanford.edu)</a:t>
            </a:r>
            <a:endParaRPr lang="en-US" sz="2000">
              <a:latin typeface="Arial"/>
              <a:cs typeface="Arial"/>
            </a:endParaRPr>
          </a:p>
          <a:p>
            <a:pPr marL="532765" lvl="1" indent="-232410"/>
            <a:r>
              <a:rPr lang="en-US" sz="2000" err="1">
                <a:latin typeface="Arial"/>
                <a:cs typeface="Arial"/>
              </a:rPr>
              <a:t>Posenet</a:t>
            </a:r>
            <a:r>
              <a:rPr lang="en-US" sz="2000">
                <a:latin typeface="Arial"/>
                <a:cs typeface="Arial"/>
              </a:rPr>
              <a:t> </a:t>
            </a:r>
            <a:r>
              <a:rPr lang="en-US" sz="2000" err="1">
                <a:latin typeface="Arial"/>
                <a:cs typeface="Arial"/>
              </a:rPr>
              <a:t>PyTorch</a:t>
            </a:r>
            <a:r>
              <a:rPr lang="en-US" sz="2000">
                <a:latin typeface="Arial"/>
                <a:cs typeface="Arial"/>
              </a:rPr>
              <a:t>: </a:t>
            </a:r>
            <a:r>
              <a:rPr lang="en-US" sz="2000">
                <a:latin typeface="Arial"/>
                <a:cs typeface="Arial"/>
                <a:hlinkClick r:id="rId4"/>
              </a:rPr>
              <a:t>rwightman/posenet-pytorch: A PyTorch port of Google TensorFlow.js PoseNet (Real-time Human Pose Estimation) (github.com)</a:t>
            </a:r>
            <a:endParaRPr lang="en-US" sz="2000">
              <a:latin typeface="Arial"/>
              <a:cs typeface="Arial"/>
            </a:endParaRPr>
          </a:p>
          <a:p>
            <a:pPr marL="532765" lvl="1" indent="-232410"/>
            <a:r>
              <a:rPr lang="en-US" sz="2000">
                <a:latin typeface="Arial"/>
                <a:cs typeface="Arial"/>
              </a:rPr>
              <a:t>YOLOv5: </a:t>
            </a:r>
            <a:r>
              <a:rPr lang="en-US" sz="2000">
                <a:latin typeface="Arial"/>
                <a:cs typeface="Arial"/>
                <a:hlinkClick r:id="rId5"/>
              </a:rPr>
              <a:t>ultralytics/yolov5: YOLOv5 🚀 in PyTorch &gt; ONNX &gt; CoreML &gt; TFLite (github.com)</a:t>
            </a:r>
            <a:endParaRPr lang="en-US" sz="2000">
              <a:latin typeface="Arial"/>
              <a:cs typeface="Arial"/>
            </a:endParaRPr>
          </a:p>
          <a:p>
            <a:pPr marL="532765" lvl="1" indent="-232410"/>
            <a:endParaRPr lang="en-US" sz="2000"/>
          </a:p>
          <a:p>
            <a:pPr marL="532765" lvl="1" indent="-232410"/>
            <a:endParaRPr lang="en-US" sz="2000"/>
          </a:p>
          <a:p>
            <a:pPr marL="532765" lvl="1" indent="-232410"/>
            <a:endParaRPr lang="en-US" sz="2000"/>
          </a:p>
          <a:p>
            <a:pPr marL="532765" lvl="1" indent="-232410"/>
            <a:endParaRPr lang="en-US" sz="2000"/>
          </a:p>
          <a:p>
            <a:pPr marL="532765" lvl="1" indent="-232410"/>
            <a:r>
              <a:rPr lang="en-US" sz="2000">
                <a:latin typeface="Arial"/>
                <a:cs typeface="Arial"/>
              </a:rPr>
              <a:t>Thanks to Nahas, Yathisha, Victor, Shivakumar, Ravi for all the help and guidance in each update meeting</a:t>
            </a:r>
            <a:endParaRPr lang="en-US" sz="2000"/>
          </a:p>
          <a:p>
            <a:pPr marL="532765" lvl="1" indent="-232410"/>
            <a:endParaRPr lang="en-US" sz="2000"/>
          </a:p>
        </p:txBody>
      </p:sp>
      <p:sp>
        <p:nvSpPr>
          <p:cNvPr id="4" name="Slide Number Placeholder 3">
            <a:extLst>
              <a:ext uri="{FF2B5EF4-FFF2-40B4-BE49-F238E27FC236}">
                <a16:creationId xmlns:a16="http://schemas.microsoft.com/office/drawing/2014/main" id="{1347EEF3-E7D9-4D7C-CD2E-F235972F5535}"/>
              </a:ext>
            </a:extLst>
          </p:cNvPr>
          <p:cNvSpPr>
            <a:spLocks noGrp="1"/>
          </p:cNvSpPr>
          <p:nvPr>
            <p:ph type="sldNum" sz="quarter" idx="2"/>
          </p:nvPr>
        </p:nvSpPr>
        <p:spPr/>
        <p:txBody>
          <a:bodyPr/>
          <a:lstStyle/>
          <a:p>
            <a:fld id="{86CB4B4D-7CA3-9044-876B-883B54F8677D}" type="slidenum">
              <a:rPr lang="en-US" smtClean="0"/>
              <a:pPr/>
              <a:t>19</a:t>
            </a:fld>
            <a:endParaRPr lang="en-US"/>
          </a:p>
        </p:txBody>
      </p:sp>
    </p:spTree>
    <p:extLst>
      <p:ext uri="{BB962C8B-B14F-4D97-AF65-F5344CB8AC3E}">
        <p14:creationId xmlns:p14="http://schemas.microsoft.com/office/powerpoint/2010/main" val="325489701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THANK YOU</a:t>
            </a:r>
          </a:p>
        </p:txBody>
      </p:sp>
    </p:spTree>
    <p:extLst>
      <p:ext uri="{BB962C8B-B14F-4D97-AF65-F5344CB8AC3E}">
        <p14:creationId xmlns:p14="http://schemas.microsoft.com/office/powerpoint/2010/main" val="342132162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3822-1357-5EA0-EABF-D565DB9E9BBE}"/>
              </a:ext>
            </a:extLst>
          </p:cNvPr>
          <p:cNvSpPr>
            <a:spLocks noGrp="1"/>
          </p:cNvSpPr>
          <p:nvPr>
            <p:ph type="title"/>
          </p:nvPr>
        </p:nvSpPr>
        <p:spPr>
          <a:xfrm>
            <a:off x="263925" y="281377"/>
            <a:ext cx="10604704" cy="603981"/>
          </a:xfrm>
        </p:spPr>
        <p:txBody>
          <a:bodyPr/>
          <a:lstStyle/>
          <a:p>
            <a:r>
              <a:rPr lang="en-US" sz="4400"/>
              <a:t>Roles</a:t>
            </a:r>
          </a:p>
        </p:txBody>
      </p:sp>
      <p:sp>
        <p:nvSpPr>
          <p:cNvPr id="4" name="Slide Number Placeholder 3">
            <a:extLst>
              <a:ext uri="{FF2B5EF4-FFF2-40B4-BE49-F238E27FC236}">
                <a16:creationId xmlns:a16="http://schemas.microsoft.com/office/drawing/2014/main" id="{E0F76E56-7D9B-F3A4-76E6-FAA8321C85E0}"/>
              </a:ext>
            </a:extLst>
          </p:cNvPr>
          <p:cNvSpPr>
            <a:spLocks noGrp="1"/>
          </p:cNvSpPr>
          <p:nvPr>
            <p:ph type="sldNum" sz="quarter" idx="2"/>
          </p:nvPr>
        </p:nvSpPr>
        <p:spPr/>
        <p:txBody>
          <a:bodyPr/>
          <a:lstStyle/>
          <a:p>
            <a:fld id="{86CB4B4D-7CA3-9044-876B-883B54F8677D}" type="slidenum">
              <a:rPr lang="en-US" smtClean="0"/>
              <a:pPr/>
              <a:t>21</a:t>
            </a:fld>
            <a:endParaRPr lang="en-US"/>
          </a:p>
        </p:txBody>
      </p:sp>
      <p:graphicFrame>
        <p:nvGraphicFramePr>
          <p:cNvPr id="5" name="Table 4">
            <a:extLst>
              <a:ext uri="{FF2B5EF4-FFF2-40B4-BE49-F238E27FC236}">
                <a16:creationId xmlns:a16="http://schemas.microsoft.com/office/drawing/2014/main" id="{6C6DAD76-863B-8136-1BAA-BB61871C7929}"/>
              </a:ext>
            </a:extLst>
          </p:cNvPr>
          <p:cNvGraphicFramePr>
            <a:graphicFrameLocks noGrp="1"/>
          </p:cNvGraphicFramePr>
          <p:nvPr>
            <p:extLst>
              <p:ext uri="{D42A27DB-BD31-4B8C-83A1-F6EECF244321}">
                <p14:modId xmlns:p14="http://schemas.microsoft.com/office/powerpoint/2010/main" val="3221582593"/>
              </p:ext>
            </p:extLst>
          </p:nvPr>
        </p:nvGraphicFramePr>
        <p:xfrm>
          <a:off x="398532" y="1140938"/>
          <a:ext cx="11196992" cy="4689733"/>
        </p:xfrm>
        <a:graphic>
          <a:graphicData uri="http://schemas.openxmlformats.org/drawingml/2006/table">
            <a:tbl>
              <a:tblPr firstRow="1" bandRow="1">
                <a:tableStyleId>{5C22544A-7EE6-4342-B048-85BDC9FD1C3A}</a:tableStyleId>
              </a:tblPr>
              <a:tblGrid>
                <a:gridCol w="2799248">
                  <a:extLst>
                    <a:ext uri="{9D8B030D-6E8A-4147-A177-3AD203B41FA5}">
                      <a16:colId xmlns:a16="http://schemas.microsoft.com/office/drawing/2014/main" val="1714799293"/>
                    </a:ext>
                  </a:extLst>
                </a:gridCol>
                <a:gridCol w="2799248">
                  <a:extLst>
                    <a:ext uri="{9D8B030D-6E8A-4147-A177-3AD203B41FA5}">
                      <a16:colId xmlns:a16="http://schemas.microsoft.com/office/drawing/2014/main" val="1611879628"/>
                    </a:ext>
                  </a:extLst>
                </a:gridCol>
                <a:gridCol w="2799248">
                  <a:extLst>
                    <a:ext uri="{9D8B030D-6E8A-4147-A177-3AD203B41FA5}">
                      <a16:colId xmlns:a16="http://schemas.microsoft.com/office/drawing/2014/main" val="195343412"/>
                    </a:ext>
                  </a:extLst>
                </a:gridCol>
                <a:gridCol w="2799248">
                  <a:extLst>
                    <a:ext uri="{9D8B030D-6E8A-4147-A177-3AD203B41FA5}">
                      <a16:colId xmlns:a16="http://schemas.microsoft.com/office/drawing/2014/main" val="3860427956"/>
                    </a:ext>
                  </a:extLst>
                </a:gridCol>
              </a:tblGrid>
              <a:tr h="601365">
                <a:tc>
                  <a:txBody>
                    <a:bodyPr/>
                    <a:lstStyle/>
                    <a:p>
                      <a:r>
                        <a:rPr lang="en-US" sz="2000">
                          <a:latin typeface="Arial"/>
                        </a:rPr>
                        <a:t>All</a:t>
                      </a:r>
                    </a:p>
                  </a:txBody>
                  <a:tcPr marL="125966" marR="125966" marT="62984" marB="62984">
                    <a:solidFill>
                      <a:srgbClr val="0070C0"/>
                    </a:solidFill>
                  </a:tcPr>
                </a:tc>
                <a:tc>
                  <a:txBody>
                    <a:bodyPr/>
                    <a:lstStyle/>
                    <a:p>
                      <a:r>
                        <a:rPr lang="en-US" sz="2000">
                          <a:latin typeface="Arial"/>
                        </a:rPr>
                        <a:t>Amanda</a:t>
                      </a:r>
                    </a:p>
                  </a:txBody>
                  <a:tcPr marL="125966" marR="125966" marT="62984" marB="62984">
                    <a:solidFill>
                      <a:srgbClr val="0070C0"/>
                    </a:solidFill>
                  </a:tcPr>
                </a:tc>
                <a:tc>
                  <a:txBody>
                    <a:bodyPr/>
                    <a:lstStyle/>
                    <a:p>
                      <a:r>
                        <a:rPr lang="en-US" sz="2000">
                          <a:latin typeface="Arial"/>
                        </a:rPr>
                        <a:t>Maan</a:t>
                      </a:r>
                    </a:p>
                  </a:txBody>
                  <a:tcPr marL="125966" marR="125966" marT="62984" marB="62984">
                    <a:solidFill>
                      <a:srgbClr val="0070C0"/>
                    </a:solidFill>
                  </a:tcPr>
                </a:tc>
                <a:tc>
                  <a:txBody>
                    <a:bodyPr/>
                    <a:lstStyle/>
                    <a:p>
                      <a:r>
                        <a:rPr lang="en-US" sz="2000">
                          <a:latin typeface="Arial"/>
                        </a:rPr>
                        <a:t>Paul</a:t>
                      </a:r>
                    </a:p>
                  </a:txBody>
                  <a:tcPr marL="125966" marR="125966" marT="62984" marB="62984">
                    <a:solidFill>
                      <a:srgbClr val="0070C0"/>
                    </a:solidFill>
                  </a:tcPr>
                </a:tc>
                <a:extLst>
                  <a:ext uri="{0D108BD9-81ED-4DB2-BD59-A6C34878D82A}">
                    <a16:rowId xmlns:a16="http://schemas.microsoft.com/office/drawing/2014/main" val="840742784"/>
                  </a:ext>
                </a:extLst>
              </a:tr>
              <a:tr h="3888289">
                <a:tc>
                  <a:txBody>
                    <a:bodyPr/>
                    <a:lstStyle/>
                    <a:p>
                      <a:pPr marL="342900" indent="-342900">
                        <a:buFont typeface="Arial" panose="020B0604020202020204" pitchFamily="34" charset="0"/>
                        <a:buChar char="•"/>
                      </a:pPr>
                      <a:r>
                        <a:rPr lang="en-US" sz="2000">
                          <a:latin typeface="Arial"/>
                        </a:rPr>
                        <a:t>Research and installation of all the library</a:t>
                      </a:r>
                    </a:p>
                    <a:p>
                      <a:pPr marL="0" indent="0">
                        <a:buFont typeface="Arial" panose="020B0604020202020204" pitchFamily="34" charset="0"/>
                        <a:buNone/>
                      </a:pPr>
                      <a:endParaRPr lang="en-US" sz="2000">
                        <a:latin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Creating sample data images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Brainstorm for the overall project Workflow</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Presentation Slides</a:t>
                      </a:r>
                      <a:endParaRPr lang="en-US" sz="2000">
                        <a:latin typeface="Arial"/>
                      </a:endParaRPr>
                    </a:p>
                    <a:p>
                      <a:pPr marL="342900" indent="-342900">
                        <a:buFont typeface="Arial" panose="020B0604020202020204" pitchFamily="34" charset="0"/>
                        <a:buChar char="•"/>
                      </a:pPr>
                      <a:endParaRPr lang="en-US" sz="2000">
                        <a:latin typeface="Arial"/>
                      </a:endParaRPr>
                    </a:p>
                  </a:txBody>
                  <a:tcPr marL="125966" marR="125966" marT="62984" marB="62984"/>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A* Research</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Researching new heuristics to optimize A* algorithm, Initial A* exploration.</a:t>
                      </a:r>
                    </a:p>
                    <a:p>
                      <a:pPr marL="342900" indent="-342900">
                        <a:buFont typeface="Arial" panose="020B0604020202020204" pitchFamily="34" charset="0"/>
                        <a:buChar char="•"/>
                      </a:pPr>
                      <a:endParaRPr lang="en-US" sz="2000">
                        <a:latin typeface="Arial"/>
                      </a:endParaRPr>
                    </a:p>
                  </a:txBody>
                  <a:tcPr marL="125966" marR="125966" marT="62984" marB="62984"/>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Posenet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A* Research</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latin typeface="Arial"/>
                        <a:cs typeface="Arial"/>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Working on scaling and optimizing simulation so it runs more optimally.</a:t>
                      </a:r>
                      <a:endParaRPr lang="en-US" sz="2000">
                        <a:latin typeface="Arial"/>
                      </a:endParaRPr>
                    </a:p>
                    <a:p>
                      <a:pPr marL="342900" indent="-342900">
                        <a:buFont typeface="Arial" panose="020B0604020202020204" pitchFamily="34" charset="0"/>
                        <a:buChar char="•"/>
                      </a:pPr>
                      <a:endParaRPr lang="en-US" sz="2000">
                        <a:latin typeface="Arial"/>
                      </a:endParaRPr>
                    </a:p>
                  </a:txBody>
                  <a:tcPr marL="125966" marR="125966" marT="62984" marB="62984"/>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Project Pipeline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a:latin typeface="Arial"/>
                        <a:cs typeface="Arial"/>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Calibration Algo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a:latin typeface="Arial"/>
                        <a:cs typeface="Arial"/>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Cost map calculations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a:latin typeface="Arial"/>
                        <a:cs typeface="Arial"/>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Simulation Algo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a:latin typeface="Arial"/>
                        <a:cs typeface="Arial"/>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latin typeface="Arial"/>
                          <a:cs typeface="Arial"/>
                        </a:rPr>
                        <a:t>Direction model. </a:t>
                      </a:r>
                    </a:p>
                    <a:p>
                      <a:endParaRPr lang="en-US" sz="2000">
                        <a:latin typeface="Arial"/>
                      </a:endParaRPr>
                    </a:p>
                  </a:txBody>
                  <a:tcPr marL="125966" marR="125966" marT="62984" marB="62984"/>
                </a:tc>
                <a:extLst>
                  <a:ext uri="{0D108BD9-81ED-4DB2-BD59-A6C34878D82A}">
                    <a16:rowId xmlns:a16="http://schemas.microsoft.com/office/drawing/2014/main" val="794310919"/>
                  </a:ext>
                </a:extLst>
              </a:tr>
            </a:tbl>
          </a:graphicData>
        </a:graphic>
      </p:graphicFrame>
    </p:spTree>
    <p:extLst>
      <p:ext uri="{BB962C8B-B14F-4D97-AF65-F5344CB8AC3E}">
        <p14:creationId xmlns:p14="http://schemas.microsoft.com/office/powerpoint/2010/main" val="31868483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3200"/>
              <a:t>3.  Person Orientation Part 2: SVM</a:t>
            </a:r>
            <a:endParaRPr lang="en-US" sz="3200">
              <a:ea typeface="Meiryo"/>
            </a:endParaRP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22</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277428" y="953336"/>
            <a:ext cx="11630733" cy="5025812"/>
          </a:xfrm>
        </p:spPr>
        <p:txBody>
          <a:bodyPr vert="horz" lIns="121920" tIns="60960" rIns="121920" bIns="60960" rtlCol="0" anchor="t">
            <a:noAutofit/>
          </a:bodyPr>
          <a:lstStyle/>
          <a:p>
            <a:pPr marL="0" indent="0"/>
            <a:r>
              <a:rPr lang="en-US" sz="2400">
                <a:latin typeface="Arial"/>
                <a:cs typeface="Arial"/>
              </a:rPr>
              <a:t>Why train our own model?</a:t>
            </a:r>
            <a:endParaRPr lang="en-US" sz="2400"/>
          </a:p>
          <a:p>
            <a:pPr marL="725805" lvl="1" indent="-342900">
              <a:buFont typeface="Courier New" panose="02070309020205020404" pitchFamily="49" charset="0"/>
              <a:buChar char="o"/>
            </a:pPr>
            <a:r>
              <a:rPr lang="en-US" sz="2400">
                <a:latin typeface="Arial"/>
                <a:cs typeface="Arial"/>
              </a:rPr>
              <a:t>No model with the right licensing exist </a:t>
            </a:r>
            <a:endParaRPr lang="en-US" sz="2400"/>
          </a:p>
          <a:p>
            <a:pPr marL="0" indent="0"/>
            <a:r>
              <a:rPr lang="en-US" sz="2400">
                <a:latin typeface="Arial"/>
                <a:cs typeface="Arial"/>
              </a:rPr>
              <a:t>Why SVM?</a:t>
            </a:r>
          </a:p>
          <a:p>
            <a:pPr marL="725805" lvl="1" indent="-342900">
              <a:buFont typeface="Courier New" panose="02070309020205020404" pitchFamily="49" charset="0"/>
              <a:buChar char="o"/>
            </a:pPr>
            <a:r>
              <a:rPr lang="en-US" sz="2400">
                <a:latin typeface="Arial"/>
                <a:cs typeface="Arial"/>
              </a:rPr>
              <a:t>Works on nonlinear dataset</a:t>
            </a:r>
          </a:p>
          <a:p>
            <a:pPr marL="725805" lvl="1" indent="-342900">
              <a:buFont typeface="Courier New" panose="02070309020205020404" pitchFamily="49" charset="0"/>
              <a:buChar char="o"/>
            </a:pPr>
            <a:r>
              <a:rPr lang="en-US" sz="2400">
                <a:latin typeface="Arial"/>
                <a:cs typeface="Arial"/>
              </a:rPr>
              <a:t>Works on highly dimensional feature space of the </a:t>
            </a:r>
            <a:r>
              <a:rPr lang="en-US" sz="2400" err="1">
                <a:latin typeface="Arial"/>
                <a:cs typeface="Arial"/>
              </a:rPr>
              <a:t>Posenet</a:t>
            </a:r>
            <a:r>
              <a:rPr lang="en-US" sz="2400">
                <a:latin typeface="Arial"/>
                <a:cs typeface="Arial"/>
              </a:rPr>
              <a:t> </a:t>
            </a:r>
            <a:r>
              <a:rPr lang="en-US" sz="2400" err="1">
                <a:latin typeface="Arial"/>
                <a:cs typeface="Arial"/>
              </a:rPr>
              <a:t>keypoints</a:t>
            </a:r>
            <a:r>
              <a:rPr lang="en-US" sz="2400">
                <a:latin typeface="Arial"/>
                <a:cs typeface="Arial"/>
              </a:rPr>
              <a:t> and angles between </a:t>
            </a:r>
            <a:r>
              <a:rPr lang="en-US" sz="2400" err="1">
                <a:latin typeface="Arial"/>
                <a:cs typeface="Arial"/>
              </a:rPr>
              <a:t>keypoints</a:t>
            </a:r>
            <a:endParaRPr lang="en-US" sz="2400">
              <a:latin typeface="Arial"/>
              <a:cs typeface="Arial"/>
            </a:endParaRPr>
          </a:p>
          <a:p>
            <a:pPr marL="725805" lvl="1" indent="-342900">
              <a:buFont typeface="Courier New" panose="02070309020205020404" pitchFamily="49" charset="0"/>
              <a:buChar char="o"/>
            </a:pPr>
            <a:r>
              <a:rPr lang="en-US" sz="2400">
                <a:latin typeface="Arial"/>
                <a:cs typeface="Arial"/>
              </a:rPr>
              <a:t>Large margins between classes (giving us higher and more precise accuracy)</a:t>
            </a:r>
          </a:p>
          <a:p>
            <a:pPr marL="0" indent="0"/>
            <a:endParaRPr lang="en-US"/>
          </a:p>
        </p:txBody>
      </p:sp>
    </p:spTree>
    <p:extLst>
      <p:ext uri="{BB962C8B-B14F-4D97-AF65-F5344CB8AC3E}">
        <p14:creationId xmlns:p14="http://schemas.microsoft.com/office/powerpoint/2010/main" val="422306854"/>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8DED-55A5-AF84-467B-C39E018A697F}"/>
              </a:ext>
            </a:extLst>
          </p:cNvPr>
          <p:cNvSpPr>
            <a:spLocks noGrp="1"/>
          </p:cNvSpPr>
          <p:nvPr>
            <p:ph type="title"/>
          </p:nvPr>
        </p:nvSpPr>
        <p:spPr/>
        <p:txBody>
          <a:bodyPr vert="horz" lIns="121920" tIns="60960" rIns="121920" bIns="60960" rtlCol="0" anchor="t">
            <a:noAutofit/>
          </a:bodyPr>
          <a:lstStyle/>
          <a:p>
            <a:r>
              <a:rPr lang="en-US" sz="3200"/>
              <a:t>3.  Future Explorations of Person Orientation Models</a:t>
            </a:r>
            <a:endParaRPr lang="en-US" sz="3200">
              <a:ea typeface="Meiryo"/>
            </a:endParaRPr>
          </a:p>
        </p:txBody>
      </p:sp>
      <p:sp>
        <p:nvSpPr>
          <p:cNvPr id="4" name="Slide Number Placeholder 3">
            <a:extLst>
              <a:ext uri="{FF2B5EF4-FFF2-40B4-BE49-F238E27FC236}">
                <a16:creationId xmlns:a16="http://schemas.microsoft.com/office/drawing/2014/main" id="{5E76AC18-37DE-7302-765B-3273BF0F331F}"/>
              </a:ext>
            </a:extLst>
          </p:cNvPr>
          <p:cNvSpPr>
            <a:spLocks noGrp="1"/>
          </p:cNvSpPr>
          <p:nvPr>
            <p:ph type="sldNum" sz="quarter" idx="2"/>
          </p:nvPr>
        </p:nvSpPr>
        <p:spPr/>
        <p:txBody>
          <a:bodyPr/>
          <a:lstStyle/>
          <a:p>
            <a:fld id="{86CB4B4D-7CA3-9044-876B-883B54F8677D}" type="slidenum">
              <a:rPr lang="en-US" smtClean="0"/>
              <a:pPr/>
              <a:t>23</a:t>
            </a:fld>
            <a:endParaRPr lang="en-US"/>
          </a:p>
        </p:txBody>
      </p:sp>
      <p:sp>
        <p:nvSpPr>
          <p:cNvPr id="5" name="Text Placeholder 2">
            <a:extLst>
              <a:ext uri="{FF2B5EF4-FFF2-40B4-BE49-F238E27FC236}">
                <a16:creationId xmlns:a16="http://schemas.microsoft.com/office/drawing/2014/main" id="{2181256C-1E99-8F35-AC28-DD31431B4713}"/>
              </a:ext>
            </a:extLst>
          </p:cNvPr>
          <p:cNvSpPr>
            <a:spLocks noGrp="1"/>
          </p:cNvSpPr>
          <p:nvPr>
            <p:ph type="body" sz="quarter" idx="10"/>
          </p:nvPr>
        </p:nvSpPr>
        <p:spPr>
          <a:xfrm>
            <a:off x="280811" y="1117601"/>
            <a:ext cx="11613846" cy="5025812"/>
          </a:xfrm>
        </p:spPr>
        <p:txBody>
          <a:bodyPr vert="horz" lIns="121920" tIns="60960" rIns="121920" bIns="60960" rtlCol="0" anchor="t">
            <a:normAutofit/>
          </a:bodyPr>
          <a:lstStyle/>
          <a:p>
            <a:pPr marL="0" indent="0"/>
            <a:endParaRPr lang="en-US" sz="2400"/>
          </a:p>
          <a:p>
            <a:pPr marL="382905" lvl="1" indent="-342900"/>
            <a:r>
              <a:rPr lang="en-US" sz="2400">
                <a:latin typeface="Arial"/>
                <a:cs typeface="Arial"/>
              </a:rPr>
              <a:t>Multiple Layer Perceptron(MLP)</a:t>
            </a:r>
            <a:endParaRPr lang="en-US" sz="2150">
              <a:latin typeface="Arial"/>
              <a:cs typeface="Arial"/>
            </a:endParaRPr>
          </a:p>
          <a:p>
            <a:pPr marL="836295" lvl="2" indent="-219710">
              <a:buFont typeface="Courier New" panose="020B0604020202020204" pitchFamily="34" charset="0"/>
              <a:buChar char="o"/>
            </a:pPr>
            <a:r>
              <a:rPr lang="en-US" sz="2250">
                <a:latin typeface="Arial"/>
                <a:cs typeface="Arial"/>
              </a:rPr>
              <a:t>More complexity = better separation of classes </a:t>
            </a:r>
          </a:p>
          <a:p>
            <a:pPr marL="836295" lvl="2" indent="-219710">
              <a:buFont typeface="Courier New" panose="020B0604020202020204" pitchFamily="34" charset="0"/>
              <a:buChar char="o"/>
            </a:pPr>
            <a:r>
              <a:rPr lang="en-US" sz="2250">
                <a:latin typeface="Arial"/>
                <a:cs typeface="Arial"/>
              </a:rPr>
              <a:t>Concern: overfitting and need larger datasets if we want to have even more angles available</a:t>
            </a:r>
          </a:p>
          <a:p>
            <a:pPr marL="382905" lvl="1" indent="-342900"/>
            <a:r>
              <a:rPr lang="en-US" sz="2400">
                <a:latin typeface="Arial"/>
                <a:cs typeface="Arial"/>
              </a:rPr>
              <a:t>Decision Trees</a:t>
            </a:r>
          </a:p>
          <a:p>
            <a:pPr marL="836295" lvl="2" indent="-219710">
              <a:buFont typeface="Courier New" panose="020B0604020202020204" pitchFamily="34" charset="0"/>
              <a:buChar char="o"/>
            </a:pPr>
            <a:r>
              <a:rPr lang="en-US" sz="2250">
                <a:latin typeface="Arial"/>
                <a:cs typeface="Arial"/>
              </a:rPr>
              <a:t>No need for normalization of features(features don't influence each other)</a:t>
            </a:r>
          </a:p>
          <a:p>
            <a:pPr marL="836295" lvl="2" indent="-219710">
              <a:buFont typeface="Courier New" panose="020B0604020202020204" pitchFamily="34" charset="0"/>
              <a:buChar char="o"/>
            </a:pPr>
            <a:r>
              <a:rPr lang="en-US" sz="2250">
                <a:latin typeface="Arial"/>
                <a:cs typeface="Arial"/>
              </a:rPr>
              <a:t>Concern: overfitting if tree is too deep</a:t>
            </a:r>
          </a:p>
          <a:p>
            <a:pPr marL="0" indent="0"/>
            <a:endParaRPr lang="en-US" sz="1500">
              <a:latin typeface="Arial"/>
              <a:cs typeface="Arial"/>
            </a:endParaRPr>
          </a:p>
        </p:txBody>
      </p:sp>
    </p:spTree>
    <p:extLst>
      <p:ext uri="{BB962C8B-B14F-4D97-AF65-F5344CB8AC3E}">
        <p14:creationId xmlns:p14="http://schemas.microsoft.com/office/powerpoint/2010/main" val="220204519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49AF-FB5E-DE71-0C7D-AEEC2DD613AD}"/>
              </a:ext>
            </a:extLst>
          </p:cNvPr>
          <p:cNvSpPr>
            <a:spLocks noGrp="1"/>
          </p:cNvSpPr>
          <p:nvPr>
            <p:ph type="title"/>
          </p:nvPr>
        </p:nvSpPr>
        <p:spPr>
          <a:xfrm>
            <a:off x="280633" y="0"/>
            <a:ext cx="11630733" cy="603981"/>
          </a:xfrm>
        </p:spPr>
        <p:txBody>
          <a:bodyPr/>
          <a:lstStyle/>
          <a:p>
            <a:r>
              <a:rPr lang="en-US" sz="4800"/>
              <a:t>Challenges Faced</a:t>
            </a:r>
          </a:p>
        </p:txBody>
      </p:sp>
      <p:sp>
        <p:nvSpPr>
          <p:cNvPr id="3" name="Text Placeholder 2">
            <a:extLst>
              <a:ext uri="{FF2B5EF4-FFF2-40B4-BE49-F238E27FC236}">
                <a16:creationId xmlns:a16="http://schemas.microsoft.com/office/drawing/2014/main" id="{4C29B2F6-A633-F432-50CD-3951CBF76AFE}"/>
              </a:ext>
            </a:extLst>
          </p:cNvPr>
          <p:cNvSpPr>
            <a:spLocks noGrp="1"/>
          </p:cNvSpPr>
          <p:nvPr>
            <p:ph type="body" sz="quarter" idx="10"/>
          </p:nvPr>
        </p:nvSpPr>
        <p:spPr>
          <a:xfrm>
            <a:off x="308518" y="1274850"/>
            <a:ext cx="11229263" cy="4880879"/>
          </a:xfrm>
        </p:spPr>
        <p:txBody>
          <a:bodyPr vert="horz" lIns="91440" tIns="45720" rIns="91440" bIns="45720" rtlCol="0" anchor="t">
            <a:normAutofit/>
          </a:bodyPr>
          <a:lstStyle/>
          <a:p>
            <a:pPr marL="149860" indent="-149860"/>
            <a:r>
              <a:rPr lang="en-US" sz="2000">
                <a:latin typeface="Arial"/>
                <a:cs typeface="Arial"/>
              </a:rPr>
              <a:t>Figuring out which part of the simulation was taking so long</a:t>
            </a:r>
            <a:endParaRPr lang="en-US" sz="2000"/>
          </a:p>
          <a:p>
            <a:pPr marL="532765" lvl="1" indent="-232410"/>
            <a:r>
              <a:rPr lang="en-US" sz="2000">
                <a:latin typeface="Arial"/>
                <a:cs typeface="Arial"/>
              </a:rPr>
              <a:t>Map too large, computationally expensive to be rendering entire grid at every simulation step</a:t>
            </a:r>
            <a:endParaRPr lang="en-US" sz="2000"/>
          </a:p>
          <a:p>
            <a:pPr marL="532765" lvl="1" indent="-232410"/>
            <a:r>
              <a:rPr lang="en-US" sz="2000">
                <a:latin typeface="Arial"/>
                <a:cs typeface="Arial"/>
              </a:rPr>
              <a:t>Solution: scale down the map, less precise but much faster. Went from 40 minutes down to 2 minutes</a:t>
            </a:r>
          </a:p>
          <a:p>
            <a:pPr marL="149860" indent="-149860"/>
            <a:r>
              <a:rPr lang="en-US" sz="2000">
                <a:latin typeface="Arial"/>
                <a:cs typeface="Arial"/>
              </a:rPr>
              <a:t>Finding speed of dynamic objects</a:t>
            </a:r>
          </a:p>
          <a:p>
            <a:pPr marL="532765" lvl="1" indent="-232410"/>
            <a:r>
              <a:rPr lang="en-US" sz="2000">
                <a:latin typeface="Arial"/>
                <a:cs typeface="Arial"/>
              </a:rPr>
              <a:t>Given current setup, we are taking static images, but in the real world application it would be webcam so the object positions are constantly changing</a:t>
            </a:r>
          </a:p>
          <a:p>
            <a:pPr marL="532765" lvl="1" indent="-232410"/>
            <a:r>
              <a:rPr lang="en-US" sz="2000">
                <a:latin typeface="Arial"/>
                <a:cs typeface="Arial"/>
              </a:rPr>
              <a:t>Idea: we calculate the A* and cost map every 2 seconds, but we can take about 20 static images within those 2 seconds that can help to calculate the speed of each human</a:t>
            </a:r>
            <a:endParaRPr lang="en-US" sz="2000"/>
          </a:p>
          <a:p>
            <a:pPr marL="300355" lvl="1" indent="0"/>
            <a:endParaRPr lang="en-US" sz="2000"/>
          </a:p>
        </p:txBody>
      </p:sp>
      <p:sp>
        <p:nvSpPr>
          <p:cNvPr id="4" name="Slide Number Placeholder 3">
            <a:extLst>
              <a:ext uri="{FF2B5EF4-FFF2-40B4-BE49-F238E27FC236}">
                <a16:creationId xmlns:a16="http://schemas.microsoft.com/office/drawing/2014/main" id="{1347EEF3-E7D9-4D7C-CD2E-F235972F5535}"/>
              </a:ext>
            </a:extLst>
          </p:cNvPr>
          <p:cNvSpPr>
            <a:spLocks noGrp="1"/>
          </p:cNvSpPr>
          <p:nvPr>
            <p:ph type="sldNum" sz="quarter" idx="2"/>
          </p:nvPr>
        </p:nvSpPr>
        <p:spPr/>
        <p:txBody>
          <a:bodyPr/>
          <a:lstStyle/>
          <a:p>
            <a:fld id="{86CB4B4D-7CA3-9044-876B-883B54F8677D}" type="slidenum">
              <a:rPr lang="en-US" smtClean="0"/>
              <a:pPr/>
              <a:t>24</a:t>
            </a:fld>
            <a:endParaRPr lang="en-US"/>
          </a:p>
        </p:txBody>
      </p:sp>
    </p:spTree>
    <p:extLst>
      <p:ext uri="{BB962C8B-B14F-4D97-AF65-F5344CB8AC3E}">
        <p14:creationId xmlns:p14="http://schemas.microsoft.com/office/powerpoint/2010/main" val="323544375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15E1A-C031-6E63-463F-9854E9AF3F1B}"/>
              </a:ext>
            </a:extLst>
          </p:cNvPr>
          <p:cNvSpPr>
            <a:spLocks noGrp="1"/>
          </p:cNvSpPr>
          <p:nvPr>
            <p:ph type="title"/>
          </p:nvPr>
        </p:nvSpPr>
        <p:spPr/>
        <p:txBody>
          <a:bodyPr/>
          <a:lstStyle/>
          <a:p>
            <a:r>
              <a:rPr lang="en-US" sz="4800"/>
              <a:t>Agenda</a:t>
            </a:r>
          </a:p>
        </p:txBody>
      </p:sp>
      <p:sp>
        <p:nvSpPr>
          <p:cNvPr id="4" name="Slide Number Placeholder 3">
            <a:extLst>
              <a:ext uri="{FF2B5EF4-FFF2-40B4-BE49-F238E27FC236}">
                <a16:creationId xmlns:a16="http://schemas.microsoft.com/office/drawing/2014/main" id="{24F732BB-E369-8348-B988-E087A68C6D22}"/>
              </a:ext>
            </a:extLst>
          </p:cNvPr>
          <p:cNvSpPr>
            <a:spLocks noGrp="1"/>
          </p:cNvSpPr>
          <p:nvPr>
            <p:ph type="sldNum" sz="quarter" idx="2"/>
          </p:nvPr>
        </p:nvSpPr>
        <p:spPr/>
        <p:txBody>
          <a:bodyPr/>
          <a:lstStyle/>
          <a:p>
            <a:fld id="{86CB4B4D-7CA3-9044-876B-883B54F8677D}" type="slidenum">
              <a:rPr lang="en-US" smtClean="0"/>
              <a:pPr/>
              <a:t>25</a:t>
            </a:fld>
            <a:endParaRPr lang="en-US"/>
          </a:p>
        </p:txBody>
      </p:sp>
      <p:sp>
        <p:nvSpPr>
          <p:cNvPr id="9" name="TextBox 8">
            <a:extLst>
              <a:ext uri="{FF2B5EF4-FFF2-40B4-BE49-F238E27FC236}">
                <a16:creationId xmlns:a16="http://schemas.microsoft.com/office/drawing/2014/main" id="{BBA2ED1E-517E-FB7F-8F10-23CBC5BF2C08}"/>
              </a:ext>
            </a:extLst>
          </p:cNvPr>
          <p:cNvSpPr txBox="1"/>
          <p:nvPr/>
        </p:nvSpPr>
        <p:spPr>
          <a:xfrm>
            <a:off x="990329" y="5570950"/>
            <a:ext cx="11610228" cy="49244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60959" tIns="60959" rIns="60959" bIns="60959" numCol="1" spcCol="38100" rtlCol="0" anchor="t">
            <a:spAutoFit/>
          </a:bodyPr>
          <a:lstStyle/>
          <a:p>
            <a:pPr defTabSz="609585" hangingPunct="0"/>
            <a:r>
              <a:rPr lang="en-US" sz="2400">
                <a:solidFill>
                  <a:srgbClr val="000000"/>
                </a:solidFill>
                <a:sym typeface="Calibri"/>
              </a:rPr>
              <a:t>*Week 5: M-W Mysore Excursion, Week 6: Th-F and Week 8: M National Holiday</a:t>
            </a:r>
          </a:p>
        </p:txBody>
      </p:sp>
      <p:pic>
        <p:nvPicPr>
          <p:cNvPr id="11" name="Picture 10">
            <a:extLst>
              <a:ext uri="{FF2B5EF4-FFF2-40B4-BE49-F238E27FC236}">
                <a16:creationId xmlns:a16="http://schemas.microsoft.com/office/drawing/2014/main" id="{9EBC2CAE-B586-8921-9FDC-2A78ACDAE249}"/>
              </a:ext>
            </a:extLst>
          </p:cNvPr>
          <p:cNvPicPr>
            <a:picLocks noChangeAspect="1"/>
          </p:cNvPicPr>
          <p:nvPr/>
        </p:nvPicPr>
        <p:blipFill>
          <a:blip r:embed="rId3"/>
          <a:stretch>
            <a:fillRect/>
          </a:stretch>
        </p:blipFill>
        <p:spPr>
          <a:xfrm>
            <a:off x="749645" y="1228346"/>
            <a:ext cx="10659292" cy="4401309"/>
          </a:xfrm>
          <a:prstGeom prst="rect">
            <a:avLst/>
          </a:prstGeom>
        </p:spPr>
      </p:pic>
    </p:spTree>
    <p:extLst>
      <p:ext uri="{BB962C8B-B14F-4D97-AF65-F5344CB8AC3E}">
        <p14:creationId xmlns:p14="http://schemas.microsoft.com/office/powerpoint/2010/main" val="158606062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49AF-FB5E-DE71-0C7D-AEEC2DD613AD}"/>
              </a:ext>
            </a:extLst>
          </p:cNvPr>
          <p:cNvSpPr>
            <a:spLocks noGrp="1"/>
          </p:cNvSpPr>
          <p:nvPr>
            <p:ph type="title"/>
          </p:nvPr>
        </p:nvSpPr>
        <p:spPr/>
        <p:txBody>
          <a:bodyPr/>
          <a:lstStyle/>
          <a:p>
            <a:r>
              <a:rPr lang="en-US" sz="4800"/>
              <a:t>Agenda and End Objective</a:t>
            </a:r>
          </a:p>
        </p:txBody>
      </p:sp>
      <p:sp>
        <p:nvSpPr>
          <p:cNvPr id="3" name="Text Placeholder 2">
            <a:extLst>
              <a:ext uri="{FF2B5EF4-FFF2-40B4-BE49-F238E27FC236}">
                <a16:creationId xmlns:a16="http://schemas.microsoft.com/office/drawing/2014/main" id="{4C29B2F6-A633-F432-50CD-3951CBF76AFE}"/>
              </a:ext>
            </a:extLst>
          </p:cNvPr>
          <p:cNvSpPr>
            <a:spLocks noGrp="1"/>
          </p:cNvSpPr>
          <p:nvPr>
            <p:ph type="body" sz="quarter" idx="10"/>
          </p:nvPr>
        </p:nvSpPr>
        <p:spPr>
          <a:xfrm>
            <a:off x="263925" y="1170626"/>
            <a:ext cx="11229263" cy="5487023"/>
          </a:xfrm>
        </p:spPr>
        <p:txBody>
          <a:bodyPr vert="horz" lIns="121920" tIns="60960" rIns="121920" bIns="60960" rtlCol="0" anchor="t">
            <a:normAutofit/>
          </a:bodyPr>
          <a:lstStyle/>
          <a:p>
            <a:pPr marL="0" indent="0"/>
            <a:r>
              <a:rPr lang="en-US" sz="2133">
                <a:latin typeface="Arial"/>
                <a:cs typeface="Arial"/>
              </a:rPr>
              <a:t>Week 5:</a:t>
            </a:r>
          </a:p>
          <a:p>
            <a:pPr marL="149856" indent="-149856"/>
            <a:r>
              <a:rPr lang="en-US" sz="2133">
                <a:latin typeface="Arial"/>
                <a:cs typeface="Arial"/>
              </a:rPr>
              <a:t>M-W: Mysore excursion, visit the facilities and see the robot</a:t>
            </a:r>
          </a:p>
          <a:p>
            <a:pPr marL="149856" indent="-149856"/>
            <a:r>
              <a:rPr lang="en-US" sz="2133">
                <a:latin typeface="Arial"/>
                <a:cs typeface="Arial"/>
              </a:rPr>
              <a:t>Research speed estimation and linear method cost maps.</a:t>
            </a:r>
          </a:p>
          <a:p>
            <a:pPr marL="0" indent="0"/>
            <a:r>
              <a:rPr lang="en-US" sz="2133">
                <a:latin typeface="Arial"/>
                <a:cs typeface="Arial"/>
              </a:rPr>
              <a:t>Week 6: (Th, F long weekend)</a:t>
            </a:r>
          </a:p>
          <a:p>
            <a:pPr marL="149856" indent="-149856"/>
            <a:r>
              <a:rPr lang="en-US" sz="2133">
                <a:latin typeface="Arial"/>
                <a:cs typeface="Arial"/>
              </a:rPr>
              <a:t>Research and implement speed estimation with YOLOv5 since it isn’t built in</a:t>
            </a:r>
          </a:p>
          <a:p>
            <a:pPr marL="149856" indent="-149856"/>
            <a:r>
              <a:rPr lang="en-US" sz="2133">
                <a:latin typeface="Arial"/>
                <a:cs typeface="Arial"/>
              </a:rPr>
              <a:t>Calibrate a cost using linear method for fixed images</a:t>
            </a:r>
          </a:p>
          <a:p>
            <a:pPr marL="0" indent="0"/>
            <a:r>
              <a:rPr lang="en-US" sz="2133">
                <a:latin typeface="Arial"/>
                <a:cs typeface="Arial"/>
              </a:rPr>
              <a:t>Week 7:</a:t>
            </a:r>
          </a:p>
          <a:p>
            <a:pPr marL="149856" indent="-149856"/>
            <a:r>
              <a:rPr lang="en-US" sz="2133">
                <a:latin typeface="Arial"/>
                <a:cs typeface="Arial"/>
              </a:rPr>
              <a:t>Integrate the cost with speed estimation to generate cost map</a:t>
            </a:r>
          </a:p>
          <a:p>
            <a:pPr marL="0" indent="0"/>
            <a:r>
              <a:rPr lang="en-US" sz="2133">
                <a:latin typeface="Arial"/>
                <a:cs typeface="Arial"/>
              </a:rPr>
              <a:t>Week 8:</a:t>
            </a:r>
          </a:p>
          <a:p>
            <a:pPr marL="149856" indent="-149856"/>
            <a:r>
              <a:rPr lang="en-US" sz="2133">
                <a:latin typeface="Arial"/>
                <a:cs typeface="Arial"/>
              </a:rPr>
              <a:t>Wrap up coding and document the installation and code transfer to team</a:t>
            </a:r>
          </a:p>
          <a:p>
            <a:pPr marL="0" indent="0"/>
            <a:r>
              <a:rPr lang="en-US" sz="2133">
                <a:latin typeface="Arial"/>
                <a:cs typeface="Arial"/>
              </a:rPr>
              <a:t>Not sure if we’ll be able to get to the 4</a:t>
            </a:r>
            <a:r>
              <a:rPr lang="en-US" sz="2133" baseline="30000">
                <a:latin typeface="Arial"/>
                <a:cs typeface="Arial"/>
              </a:rPr>
              <a:t>th</a:t>
            </a:r>
            <a:r>
              <a:rPr lang="en-US" sz="2133">
                <a:latin typeface="Arial"/>
                <a:cs typeface="Arial"/>
              </a:rPr>
              <a:t> objective with navigation using the cost map. Depends on how long the integration will take in Week 7.</a:t>
            </a:r>
          </a:p>
        </p:txBody>
      </p:sp>
      <p:sp>
        <p:nvSpPr>
          <p:cNvPr id="4" name="Slide Number Placeholder 3">
            <a:extLst>
              <a:ext uri="{FF2B5EF4-FFF2-40B4-BE49-F238E27FC236}">
                <a16:creationId xmlns:a16="http://schemas.microsoft.com/office/drawing/2014/main" id="{1347EEF3-E7D9-4D7C-CD2E-F235972F5535}"/>
              </a:ext>
            </a:extLst>
          </p:cNvPr>
          <p:cNvSpPr>
            <a:spLocks noGrp="1"/>
          </p:cNvSpPr>
          <p:nvPr>
            <p:ph type="sldNum" sz="quarter" idx="2"/>
          </p:nvPr>
        </p:nvSpPr>
        <p:spPr/>
        <p:txBody>
          <a:bodyPr/>
          <a:lstStyle/>
          <a:p>
            <a:fld id="{86CB4B4D-7CA3-9044-876B-883B54F8677D}" type="slidenum">
              <a:rPr lang="en-US" smtClean="0"/>
              <a:pPr/>
              <a:t>26</a:t>
            </a:fld>
            <a:endParaRPr lang="en-US"/>
          </a:p>
        </p:txBody>
      </p:sp>
      <p:pic>
        <p:nvPicPr>
          <p:cNvPr id="6" name="Picture 5" descr="A line of pointers with a black line&#10;&#10;Description automatically generated with medium confidence">
            <a:extLst>
              <a:ext uri="{FF2B5EF4-FFF2-40B4-BE49-F238E27FC236}">
                <a16:creationId xmlns:a16="http://schemas.microsoft.com/office/drawing/2014/main" id="{83CF050A-4CBE-D180-8C44-7E18B58D0DA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575040" y="400740"/>
            <a:ext cx="3129280" cy="1173480"/>
          </a:xfrm>
          <a:prstGeom prst="rect">
            <a:avLst/>
          </a:prstGeom>
        </p:spPr>
      </p:pic>
    </p:spTree>
    <p:extLst>
      <p:ext uri="{BB962C8B-B14F-4D97-AF65-F5344CB8AC3E}">
        <p14:creationId xmlns:p14="http://schemas.microsoft.com/office/powerpoint/2010/main" val="1003961075"/>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1614</Words>
  <Application>Microsoft Office PowerPoint</Application>
  <PresentationFormat>Widescreen</PresentationFormat>
  <Paragraphs>291</Paragraphs>
  <Slides>26</Slides>
  <Notes>19</Notes>
  <HiddenSlides>5</HiddenSlides>
  <MMClips>6</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InStep Internship Final Presentation</vt:lpstr>
      <vt:lpstr>Meet the Team</vt:lpstr>
      <vt:lpstr>Project Overview</vt:lpstr>
      <vt:lpstr>Project Overview</vt:lpstr>
      <vt:lpstr>1.  Person Detection: Yolov5</vt:lpstr>
      <vt:lpstr>1.  Person Detection: Yolov5</vt:lpstr>
      <vt:lpstr>2. Depth Estimation: Depth Anything model </vt:lpstr>
      <vt:lpstr>2.1 Calibration step:</vt:lpstr>
      <vt:lpstr>2.2 Depth Calculation:</vt:lpstr>
      <vt:lpstr>3.  Person Orientation:</vt:lpstr>
      <vt:lpstr>4.  Cost Map</vt:lpstr>
      <vt:lpstr>5.  Navigation Algorithm</vt:lpstr>
      <vt:lpstr>Navigation Algorithm Decision</vt:lpstr>
      <vt:lpstr>6.  Simulation</vt:lpstr>
      <vt:lpstr>5.  Simulation</vt:lpstr>
      <vt:lpstr>Putting it all Together</vt:lpstr>
      <vt:lpstr>Way Forward and Next Steps Pt 1</vt:lpstr>
      <vt:lpstr>Way Forward and Next Steps Pt 2</vt:lpstr>
      <vt:lpstr>Code Resources</vt:lpstr>
      <vt:lpstr>THANK YOU</vt:lpstr>
      <vt:lpstr>Roles</vt:lpstr>
      <vt:lpstr>3.  Person Orientation Part 2: SVM</vt:lpstr>
      <vt:lpstr>3.  Future Explorations of Person Orientation Models</vt:lpstr>
      <vt:lpstr>Challenges Faced</vt:lpstr>
      <vt:lpstr>Agenda</vt:lpstr>
      <vt:lpstr>Agenda and End Objective</vt:lpstr>
    </vt:vector>
  </TitlesOfParts>
  <Company>Infosys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InStep Internship Final Presentation</dc:title>
  <dc:creator>Paul Arthur Richard</dc:creator>
  <cp:lastModifiedBy>Paul Arthur Richard</cp:lastModifiedBy>
  <cp:revision>2</cp:revision>
  <dcterms:created xsi:type="dcterms:W3CDTF">2024-08-21T09:24:43Z</dcterms:created>
  <dcterms:modified xsi:type="dcterms:W3CDTF">2024-08-28T10:52:07Z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819fa7-4367-4500-ba88-dd630d977609_Enabled">
    <vt:lpwstr>true</vt:lpwstr>
  </property>
  <property fmtid="{D5CDD505-2E9C-101B-9397-08002B2CF9AE}" pid="3" name="MSIP_Label_a0819fa7-4367-4500-ba88-dd630d977609_SetDate">
    <vt:lpwstr>2024-08-21T10:32:50Z</vt:lpwstr>
  </property>
  <property fmtid="{D5CDD505-2E9C-101B-9397-08002B2CF9AE}" pid="4" name="MSIP_Label_a0819fa7-4367-4500-ba88-dd630d977609_Method">
    <vt:lpwstr>Standard</vt:lpwstr>
  </property>
  <property fmtid="{D5CDD505-2E9C-101B-9397-08002B2CF9AE}" pid="5" name="MSIP_Label_a0819fa7-4367-4500-ba88-dd630d977609_Name">
    <vt:lpwstr>a0819fa7-4367-4500-ba88-dd630d977609</vt:lpwstr>
  </property>
  <property fmtid="{D5CDD505-2E9C-101B-9397-08002B2CF9AE}" pid="6" name="MSIP_Label_a0819fa7-4367-4500-ba88-dd630d977609_SiteId">
    <vt:lpwstr>63ce7d59-2f3e-42cd-a8cc-be764cff5eb6</vt:lpwstr>
  </property>
  <property fmtid="{D5CDD505-2E9C-101B-9397-08002B2CF9AE}" pid="7" name="MSIP_Label_a0819fa7-4367-4500-ba88-dd630d977609_ActionId">
    <vt:lpwstr>2902fc13-1f12-4a39-b476-743a1c6843a0</vt:lpwstr>
  </property>
  <property fmtid="{D5CDD505-2E9C-101B-9397-08002B2CF9AE}" pid="8" name="MSIP_Label_a0819fa7-4367-4500-ba88-dd630d977609_ContentBits">
    <vt:lpwstr>0</vt:lpwstr>
  </property>
</Properties>
</file>